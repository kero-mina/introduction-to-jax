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432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7B0C-A109-D4E3-7685-5D92A91E3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1F4D1-050D-F789-D7E4-3B398B567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F8734-6154-00C6-8A72-D94883162B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3FB0B5-7A91-A355-65FB-D16EF772971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870203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74380-69C1-A429-C774-FF49A2BB0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5FE17-1559-DBE8-E456-5D4D37A94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80DA4-DD9D-79C5-9AC7-54C0202545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DC9B3F-5564-8CDD-66DC-255AD670E0C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98159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gwr/learn-jax"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6782078" y="-1097280"/>
            <a:ext cx="3200400" cy="3200400"/>
          </a:xfrm>
          <a:prstGeom prst="ellipse">
            <a:avLst/>
          </a:prstGeom>
          <a:solidFill>
            <a:schemeClr val="bg1">
              <a:alpha val="12000"/>
            </a:schemeClr>
          </a:solidFill>
          <a:ln w="12700">
            <a:solidFill>
              <a:srgbClr val="00D4FF">
                <a:alpha val="40000"/>
              </a:srgbClr>
            </a:solidFill>
            <a:prstDash val="solid"/>
          </a:ln>
        </p:spPr>
        <p:txBody>
          <a:bodyPr/>
          <a:lstStyle/>
          <a:p>
            <a:endParaRPr lang="en-US"/>
          </a:p>
        </p:txBody>
      </p:sp>
      <p:sp>
        <p:nvSpPr>
          <p:cNvPr id="3" name="Shape 1"/>
          <p:cNvSpPr/>
          <p:nvPr/>
        </p:nvSpPr>
        <p:spPr>
          <a:xfrm>
            <a:off x="7672787" y="-411480"/>
            <a:ext cx="2011680" cy="2011680"/>
          </a:xfrm>
          <a:prstGeom prst="ellipse">
            <a:avLst/>
          </a:prstGeom>
          <a:solidFill>
            <a:schemeClr val="bg1">
              <a:alpha val="18000"/>
            </a:schemeClr>
          </a:solidFill>
          <a:ln w="12700">
            <a:solidFill>
              <a:srgbClr val="7B61FF">
                <a:alpha val="40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826135" y="156556"/>
            <a:ext cx="2560320" cy="1188720"/>
          </a:xfrm>
          <a:prstGeom prst="rect">
            <a:avLst/>
          </a:prstGeom>
        </p:spPr>
      </p:pic>
      <p:sp>
        <p:nvSpPr>
          <p:cNvPr id="5" name="Shape 2"/>
          <p:cNvSpPr/>
          <p:nvPr/>
        </p:nvSpPr>
        <p:spPr>
          <a:xfrm>
            <a:off x="457200" y="1691640"/>
            <a:ext cx="73152" cy="2194560"/>
          </a:xfrm>
          <a:prstGeom prst="rect">
            <a:avLst/>
          </a:prstGeom>
          <a:solidFill>
            <a:srgbClr val="00D4FF"/>
          </a:solidFill>
          <a:ln w="12700">
            <a:solidFill>
              <a:srgbClr val="00D4FF"/>
            </a:solidFill>
            <a:prstDash val="solid"/>
          </a:ln>
        </p:spPr>
        <p:txBody>
          <a:bodyPr/>
          <a:lstStyle/>
          <a:p>
            <a:endParaRPr lang="en-US"/>
          </a:p>
        </p:txBody>
      </p:sp>
      <p:sp>
        <p:nvSpPr>
          <p:cNvPr id="6" name="Text 3"/>
          <p:cNvSpPr/>
          <p:nvPr/>
        </p:nvSpPr>
        <p:spPr>
          <a:xfrm>
            <a:off x="658368" y="1737360"/>
            <a:ext cx="6400800" cy="347472"/>
          </a:xfrm>
          <a:prstGeom prst="rect">
            <a:avLst/>
          </a:prstGeom>
          <a:noFill/>
          <a:ln/>
        </p:spPr>
        <p:txBody>
          <a:bodyPr wrap="square" lIns="0" tIns="0" rIns="0" bIns="0" rtlCol="0" anchor="ctr"/>
          <a:lstStyle/>
          <a:p>
            <a:pPr marL="0" indent="0">
              <a:buNone/>
            </a:pPr>
            <a:r>
              <a:rPr lang="en-US" sz="1400" b="1" dirty="0">
                <a:solidFill>
                  <a:srgbClr val="00D4FF"/>
                </a:solidFill>
                <a:latin typeface="Consolas" pitchFamily="34" charset="0"/>
                <a:ea typeface="Consolas" pitchFamily="34" charset="-122"/>
                <a:cs typeface="Consolas" pitchFamily="34" charset="-120"/>
              </a:rPr>
              <a:t>CSE 521: Embedded ML</a:t>
            </a:r>
            <a:endParaRPr lang="en-US" sz="1400" dirty="0"/>
          </a:p>
        </p:txBody>
      </p:sp>
      <p:sp>
        <p:nvSpPr>
          <p:cNvPr id="7" name="Text 4"/>
          <p:cNvSpPr/>
          <p:nvPr/>
        </p:nvSpPr>
        <p:spPr>
          <a:xfrm>
            <a:off x="658368" y="2103120"/>
            <a:ext cx="8046720" cy="109728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Introduction to JAX</a:t>
            </a:r>
            <a:endParaRPr lang="en-US" sz="5200" dirty="0"/>
          </a:p>
        </p:txBody>
      </p:sp>
      <p:sp>
        <p:nvSpPr>
          <p:cNvPr id="8" name="Text 5"/>
          <p:cNvSpPr/>
          <p:nvPr/>
        </p:nvSpPr>
        <p:spPr>
          <a:xfrm>
            <a:off x="658368" y="3246120"/>
            <a:ext cx="7589520" cy="685800"/>
          </a:xfrm>
          <a:prstGeom prst="rect">
            <a:avLst/>
          </a:prstGeom>
          <a:noFill/>
          <a:ln/>
        </p:spPr>
        <p:txBody>
          <a:bodyPr wrap="square" lIns="0" tIns="0" rIns="0" bIns="0" rtlCol="0" anchor="ctr"/>
          <a:lstStyle/>
          <a:p>
            <a:pPr marL="0" indent="0">
              <a:buNone/>
            </a:pPr>
            <a:r>
              <a:rPr lang="en-US" sz="1300" i="1" dirty="0">
                <a:solidFill>
                  <a:srgbClr val="A0B4CC"/>
                </a:solidFill>
                <a:latin typeface="Calibri" pitchFamily="34" charset="0"/>
                <a:ea typeface="Calibri" pitchFamily="34" charset="-122"/>
                <a:cs typeface="Calibri" pitchFamily="34" charset="-120"/>
              </a:rPr>
              <a:t>JAX is a library for array-oriented numerical computation with automatic differentiation and JIT compilation to enable high-performance machine learning research.</a:t>
            </a:r>
            <a:endParaRPr lang="en-US" sz="1300" dirty="0"/>
          </a:p>
        </p:txBody>
      </p:sp>
      <p:sp>
        <p:nvSpPr>
          <p:cNvPr id="9" name="Text 6"/>
          <p:cNvSpPr/>
          <p:nvPr/>
        </p:nvSpPr>
        <p:spPr>
          <a:xfrm>
            <a:off x="658368" y="4480560"/>
            <a:ext cx="7772400" cy="347472"/>
          </a:xfrm>
          <a:prstGeom prst="rect">
            <a:avLst/>
          </a:prstGeom>
          <a:noFill/>
          <a:ln/>
        </p:spPr>
        <p:txBody>
          <a:bodyPr wrap="square" lIns="0" tIns="0" rIns="0" bIns="0" rtlCol="0" anchor="ctr"/>
          <a:lstStyle/>
          <a:p>
            <a:pPr marL="0" indent="0">
              <a:buNone/>
            </a:pPr>
            <a:r>
              <a:rPr lang="en-US" sz="1300" dirty="0">
                <a:solidFill>
                  <a:srgbClr val="A0B4CC"/>
                </a:solidFill>
                <a:latin typeface="Calibri" pitchFamily="34" charset="0"/>
                <a:ea typeface="Calibri" pitchFamily="34" charset="-122"/>
                <a:cs typeface="Calibri" pitchFamily="34" charset="-120"/>
              </a:rPr>
              <a:t>Prepared by: </a:t>
            </a:r>
            <a:r>
              <a:rPr lang="en-US" sz="1300" b="1" dirty="0">
                <a:solidFill>
                  <a:srgbClr val="00E5A0"/>
                </a:solidFill>
                <a:latin typeface="Calibri" pitchFamily="34" charset="0"/>
                <a:ea typeface="Calibri" pitchFamily="34" charset="-122"/>
                <a:cs typeface="Calibri" pitchFamily="34" charset="-120"/>
              </a:rPr>
              <a:t>Kirolos Mina</a:t>
            </a:r>
            <a:r>
              <a:rPr lang="en-US" sz="1300" dirty="0">
                <a:solidFill>
                  <a:srgbClr val="A0B4CC"/>
                </a:solidFill>
                <a:latin typeface="Calibri" pitchFamily="34" charset="0"/>
                <a:ea typeface="Calibri" pitchFamily="34" charset="-122"/>
                <a:cs typeface="Calibri" pitchFamily="34" charset="-120"/>
              </a:rPr>
              <a:t>     Supervised by: </a:t>
            </a:r>
            <a:r>
              <a:rPr lang="en-US" sz="1300" b="1" dirty="0">
                <a:solidFill>
                  <a:srgbClr val="00E5A0"/>
                </a:solidFill>
                <a:latin typeface="Calibri" pitchFamily="34" charset="0"/>
                <a:ea typeface="Calibri" pitchFamily="34" charset="-122"/>
                <a:cs typeface="Calibri" pitchFamily="34" charset="-120"/>
              </a:rPr>
              <a:t>Dr. Rami Zewail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Overview</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5" name="Shape 3"/>
          <p:cNvSpPr/>
          <p:nvPr/>
        </p:nvSpPr>
        <p:spPr>
          <a:xfrm>
            <a:off x="411480" y="1325880"/>
            <a:ext cx="8321040" cy="685800"/>
          </a:xfrm>
          <a:prstGeom prst="rect">
            <a:avLst/>
          </a:prstGeom>
          <a:solidFill>
            <a:srgbClr val="162032"/>
          </a:solidFill>
          <a:ln w="12700">
            <a:solidFill>
              <a:srgbClr val="00D4FF">
                <a:alpha val="40000"/>
              </a:srgbClr>
            </a:solidFill>
            <a:prstDash val="solid"/>
          </a:ln>
          <a:effectLst>
            <a:outerShdw blurRad="101600" dist="38100" dir="8100000" algn="bl" rotWithShape="0">
              <a:srgbClr val="000000">
                <a:alpha val="22000"/>
              </a:srgbClr>
            </a:outerShdw>
          </a:effectLst>
        </p:spPr>
        <p:txBody>
          <a:bodyPr/>
          <a:lstStyle/>
          <a:p>
            <a:endParaRPr lang="en-US"/>
          </a:p>
        </p:txBody>
      </p:sp>
      <p:sp>
        <p:nvSpPr>
          <p:cNvPr id="6" name="Shape 4"/>
          <p:cNvSpPr/>
          <p:nvPr/>
        </p:nvSpPr>
        <p:spPr>
          <a:xfrm>
            <a:off x="594360" y="1581912"/>
            <a:ext cx="164592" cy="164592"/>
          </a:xfrm>
          <a:prstGeom prst="ellipse">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868680" y="1325880"/>
            <a:ext cx="768096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provides a unified Numpy-like interface to computations that run on CPU, GPU or TPU in local or distributed settings.</a:t>
            </a:r>
            <a:endParaRPr lang="en-US" sz="1300" dirty="0"/>
          </a:p>
        </p:txBody>
      </p:sp>
      <p:sp>
        <p:nvSpPr>
          <p:cNvPr id="8" name="Shape 6"/>
          <p:cNvSpPr/>
          <p:nvPr/>
        </p:nvSpPr>
        <p:spPr>
          <a:xfrm>
            <a:off x="411480" y="2130552"/>
            <a:ext cx="8321040" cy="685800"/>
          </a:xfrm>
          <a:prstGeom prst="rect">
            <a:avLst/>
          </a:prstGeom>
          <a:solidFill>
            <a:srgbClr val="162032"/>
          </a:solidFill>
          <a:ln w="12700">
            <a:solidFill>
              <a:srgbClr val="00D4FF">
                <a:alpha val="40000"/>
              </a:srgbClr>
            </a:solidFill>
            <a:prstDash val="solid"/>
          </a:ln>
          <a:effectLst>
            <a:outerShdw blurRad="101600" dist="38100" dir="8100000" algn="bl" rotWithShape="0">
              <a:srgbClr val="000000">
                <a:alpha val="22000"/>
              </a:srgbClr>
            </a:outerShdw>
          </a:effectLst>
        </p:spPr>
        <p:txBody>
          <a:bodyPr/>
          <a:lstStyle/>
          <a:p>
            <a:endParaRPr lang="en-US"/>
          </a:p>
        </p:txBody>
      </p:sp>
      <p:sp>
        <p:nvSpPr>
          <p:cNvPr id="9" name="Shape 7"/>
          <p:cNvSpPr/>
          <p:nvPr/>
        </p:nvSpPr>
        <p:spPr>
          <a:xfrm>
            <a:off x="594360" y="2386584"/>
            <a:ext cx="164592" cy="164592"/>
          </a:xfrm>
          <a:prstGeom prst="ellipse">
            <a:avLst/>
          </a:prstGeom>
          <a:solidFill>
            <a:srgbClr val="00D4FF"/>
          </a:solidFill>
          <a:ln w="12700">
            <a:solidFill>
              <a:srgbClr val="00D4FF"/>
            </a:solidFill>
            <a:prstDash val="solid"/>
          </a:ln>
        </p:spPr>
        <p:txBody>
          <a:bodyPr/>
          <a:lstStyle/>
          <a:p>
            <a:endParaRPr lang="en-US"/>
          </a:p>
        </p:txBody>
      </p:sp>
      <p:sp>
        <p:nvSpPr>
          <p:cNvPr id="10" name="Text 8"/>
          <p:cNvSpPr/>
          <p:nvPr/>
        </p:nvSpPr>
        <p:spPr>
          <a:xfrm>
            <a:off x="868680" y="2130552"/>
            <a:ext cx="768096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features built-in Just-In-Time compilation via Open XLA, an open-source machine learning compiler ecosystem.</a:t>
            </a:r>
            <a:endParaRPr lang="en-US" sz="1300" dirty="0"/>
          </a:p>
        </p:txBody>
      </p:sp>
      <p:sp>
        <p:nvSpPr>
          <p:cNvPr id="11" name="Shape 9"/>
          <p:cNvSpPr/>
          <p:nvPr/>
        </p:nvSpPr>
        <p:spPr>
          <a:xfrm>
            <a:off x="411480" y="2935224"/>
            <a:ext cx="8321040" cy="685800"/>
          </a:xfrm>
          <a:prstGeom prst="rect">
            <a:avLst/>
          </a:prstGeom>
          <a:solidFill>
            <a:srgbClr val="162032"/>
          </a:solidFill>
          <a:ln w="12700">
            <a:solidFill>
              <a:srgbClr val="00D4FF">
                <a:alpha val="40000"/>
              </a:srgbClr>
            </a:solidFill>
            <a:prstDash val="solid"/>
          </a:ln>
          <a:effectLst>
            <a:outerShdw blurRad="101600" dist="38100" dir="8100000" algn="bl" rotWithShape="0">
              <a:srgbClr val="000000">
                <a:alpha val="22000"/>
              </a:srgbClr>
            </a:outerShdw>
          </a:effectLst>
        </p:spPr>
        <p:txBody>
          <a:bodyPr/>
          <a:lstStyle/>
          <a:p>
            <a:endParaRPr lang="en-US"/>
          </a:p>
        </p:txBody>
      </p:sp>
      <p:sp>
        <p:nvSpPr>
          <p:cNvPr id="12" name="Shape 10"/>
          <p:cNvSpPr/>
          <p:nvPr/>
        </p:nvSpPr>
        <p:spPr>
          <a:xfrm>
            <a:off x="594360" y="3191256"/>
            <a:ext cx="164592" cy="164592"/>
          </a:xfrm>
          <a:prstGeom prst="ellipse">
            <a:avLst/>
          </a:prstGeom>
          <a:solidFill>
            <a:srgbClr val="00D4FF"/>
          </a:solidFill>
          <a:ln w="12700">
            <a:solidFill>
              <a:srgbClr val="00D4FF"/>
            </a:solidFill>
            <a:prstDash val="solid"/>
          </a:ln>
        </p:spPr>
        <p:txBody>
          <a:bodyPr/>
          <a:lstStyle/>
          <a:p>
            <a:endParaRPr lang="en-US"/>
          </a:p>
        </p:txBody>
      </p:sp>
      <p:sp>
        <p:nvSpPr>
          <p:cNvPr id="13" name="Text 11"/>
          <p:cNvSpPr/>
          <p:nvPr/>
        </p:nvSpPr>
        <p:spPr>
          <a:xfrm>
            <a:off x="868680" y="2935224"/>
            <a:ext cx="768096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functions support efficient evaluation of gradients via its automatic differentiation transformations.</a:t>
            </a:r>
            <a:endParaRPr lang="en-US" sz="1300" dirty="0"/>
          </a:p>
        </p:txBody>
      </p:sp>
      <p:sp>
        <p:nvSpPr>
          <p:cNvPr id="14" name="Shape 12"/>
          <p:cNvSpPr/>
          <p:nvPr/>
        </p:nvSpPr>
        <p:spPr>
          <a:xfrm>
            <a:off x="411480" y="3739896"/>
            <a:ext cx="8321040" cy="685800"/>
          </a:xfrm>
          <a:prstGeom prst="rect">
            <a:avLst/>
          </a:prstGeom>
          <a:solidFill>
            <a:srgbClr val="162032"/>
          </a:solidFill>
          <a:ln w="12700">
            <a:solidFill>
              <a:srgbClr val="00D4FF">
                <a:alpha val="40000"/>
              </a:srgbClr>
            </a:solidFill>
            <a:prstDash val="solid"/>
          </a:ln>
          <a:effectLst>
            <a:outerShdw blurRad="101600" dist="38100" dir="8100000" algn="bl" rotWithShape="0">
              <a:srgbClr val="000000">
                <a:alpha val="22000"/>
              </a:srgbClr>
            </a:outerShdw>
          </a:effectLst>
        </p:spPr>
        <p:txBody>
          <a:bodyPr/>
          <a:lstStyle/>
          <a:p>
            <a:endParaRPr lang="en-US"/>
          </a:p>
        </p:txBody>
      </p:sp>
      <p:sp>
        <p:nvSpPr>
          <p:cNvPr id="15" name="Shape 13"/>
          <p:cNvSpPr/>
          <p:nvPr/>
        </p:nvSpPr>
        <p:spPr>
          <a:xfrm>
            <a:off x="594360" y="3995928"/>
            <a:ext cx="164592" cy="164592"/>
          </a:xfrm>
          <a:prstGeom prst="ellipse">
            <a:avLst/>
          </a:prstGeom>
          <a:solidFill>
            <a:srgbClr val="00D4FF"/>
          </a:solidFill>
          <a:ln w="12700">
            <a:solidFill>
              <a:srgbClr val="00D4FF"/>
            </a:solidFill>
            <a:prstDash val="solid"/>
          </a:ln>
        </p:spPr>
        <p:txBody>
          <a:bodyPr/>
          <a:lstStyle/>
          <a:p>
            <a:endParaRPr lang="en-US"/>
          </a:p>
        </p:txBody>
      </p:sp>
      <p:sp>
        <p:nvSpPr>
          <p:cNvPr id="16" name="Text 14"/>
          <p:cNvSpPr/>
          <p:nvPr/>
        </p:nvSpPr>
        <p:spPr>
          <a:xfrm>
            <a:off x="868680" y="3739896"/>
            <a:ext cx="768096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functions can be automatically vectorized to efficiently map them over arrays representing batches of inputs.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Installation</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Text 2"/>
          <p:cNvSpPr/>
          <p:nvPr/>
        </p:nvSpPr>
        <p:spPr>
          <a:xfrm>
            <a:off x="457200" y="841248"/>
            <a:ext cx="8229600" cy="384048"/>
          </a:xfrm>
          <a:prstGeom prst="rect">
            <a:avLst/>
          </a:prstGeom>
          <a:noFill/>
          <a:ln/>
        </p:spPr>
        <p:txBody>
          <a:bodyPr wrap="square" lIns="0" tIns="0" rIns="0" bIns="0" rtlCol="0" anchor="ctr"/>
          <a:lstStyle/>
          <a:p>
            <a:pPr marL="0" indent="0">
              <a:buNone/>
            </a:pPr>
            <a:r>
              <a:rPr lang="en-US" sz="1300" i="1" dirty="0">
                <a:solidFill>
                  <a:srgbClr val="A0B4CC"/>
                </a:solidFill>
                <a:latin typeface="Calibri" pitchFamily="34" charset="0"/>
                <a:ea typeface="Calibri" pitchFamily="34" charset="-122"/>
                <a:cs typeface="Calibri" pitchFamily="34" charset="-120"/>
              </a:rPr>
              <a:t>JAX can be installed for CPU on linux, windows and macOS directly from the python package index.</a:t>
            </a:r>
            <a:endParaRPr lang="en-US" sz="1300" dirty="0"/>
          </a:p>
        </p:txBody>
      </p:sp>
      <p:sp>
        <p:nvSpPr>
          <p:cNvPr id="5" name="Text 3"/>
          <p:cNvSpPr/>
          <p:nvPr/>
        </p:nvSpPr>
        <p:spPr>
          <a:xfrm>
            <a:off x="457200" y="1216152"/>
            <a:ext cx="8229600" cy="457200"/>
          </a:xfrm>
          <a:prstGeom prst="rect">
            <a:avLst/>
          </a:prstGeom>
          <a:noFill/>
          <a:ln/>
        </p:spPr>
        <p:txBody>
          <a:bodyPr wrap="square" lIns="0" tIns="0" rIns="0" bIns="0" rtlCol="0" anchor="ctr"/>
          <a:lstStyle/>
          <a:p>
            <a:pPr marL="0" indent="0">
              <a:buNone/>
            </a:pPr>
            <a:r>
              <a:rPr lang="en-US" sz="1200" dirty="0">
                <a:solidFill>
                  <a:srgbClr val="A0B4CC"/>
                </a:solidFill>
                <a:latin typeface="Calibri" pitchFamily="34" charset="0"/>
                <a:ea typeface="Calibri" pitchFamily="34" charset="-122"/>
                <a:cs typeface="Calibri" pitchFamily="34" charset="-120"/>
              </a:rPr>
              <a:t>Using JAX requires installing two packages: jax, which is pure Python and cross-platform, and jaxlib which contains compiled binaries, and requires different builds for different operating systems and accelerators.</a:t>
            </a:r>
            <a:endParaRPr lang="en-US" sz="1200" dirty="0"/>
          </a:p>
        </p:txBody>
      </p:sp>
      <p:sp>
        <p:nvSpPr>
          <p:cNvPr id="6" name="Shape 4"/>
          <p:cNvSpPr/>
          <p:nvPr/>
        </p:nvSpPr>
        <p:spPr>
          <a:xfrm>
            <a:off x="365760" y="1764792"/>
            <a:ext cx="8412480" cy="621792"/>
          </a:xfrm>
          <a:prstGeom prst="rect">
            <a:avLst/>
          </a:prstGeom>
          <a:solidFill>
            <a:srgbClr val="1E2E42"/>
          </a:solidFill>
          <a:ln w="19050">
            <a:solidFill>
              <a:srgbClr val="00E5A0"/>
            </a:solidFill>
            <a:prstDash val="solid"/>
          </a:ln>
          <a:effectLst>
            <a:outerShdw blurRad="101600" dist="38100" dir="8100000" algn="bl" rotWithShape="0">
              <a:srgbClr val="000000">
                <a:alpha val="22000"/>
              </a:srgbClr>
            </a:outerShdw>
          </a:effectLst>
        </p:spPr>
        <p:txBody>
          <a:bodyPr/>
          <a:lstStyle/>
          <a:p>
            <a:endParaRPr lang="en-US"/>
          </a:p>
        </p:txBody>
      </p:sp>
      <p:sp>
        <p:nvSpPr>
          <p:cNvPr id="7" name="Shape 5"/>
          <p:cNvSpPr/>
          <p:nvPr/>
        </p:nvSpPr>
        <p:spPr>
          <a:xfrm>
            <a:off x="365760" y="1764792"/>
            <a:ext cx="64008" cy="621792"/>
          </a:xfrm>
          <a:prstGeom prst="rect">
            <a:avLst/>
          </a:prstGeom>
          <a:solidFill>
            <a:srgbClr val="00E5A0"/>
          </a:solidFill>
          <a:ln w="12700">
            <a:solidFill>
              <a:srgbClr val="00E5A0"/>
            </a:solidFill>
            <a:prstDash val="solid"/>
          </a:ln>
        </p:spPr>
        <p:txBody>
          <a:bodyPr/>
          <a:lstStyle/>
          <a:p>
            <a:endParaRPr lang="en-US"/>
          </a:p>
        </p:txBody>
      </p:sp>
      <p:sp>
        <p:nvSpPr>
          <p:cNvPr id="8" name="Text 6"/>
          <p:cNvSpPr/>
          <p:nvPr/>
        </p:nvSpPr>
        <p:spPr>
          <a:xfrm>
            <a:off x="548640" y="1801368"/>
            <a:ext cx="4572000" cy="219456"/>
          </a:xfrm>
          <a:prstGeom prst="rect">
            <a:avLst/>
          </a:prstGeom>
          <a:noFill/>
          <a:ln/>
        </p:spPr>
        <p:txBody>
          <a:bodyPr wrap="square" lIns="0" tIns="0" rIns="0" bIns="0" rtlCol="0" anchor="ctr"/>
          <a:lstStyle/>
          <a:p>
            <a:pPr marL="0" indent="0">
              <a:buNone/>
            </a:pPr>
            <a:r>
              <a:rPr lang="en-US" sz="1100" b="1" dirty="0">
                <a:solidFill>
                  <a:srgbClr val="00E5A0"/>
                </a:solidFill>
                <a:latin typeface="Calibri" pitchFamily="34" charset="0"/>
                <a:ea typeface="Calibri" pitchFamily="34" charset="-122"/>
                <a:cs typeface="Calibri" pitchFamily="34" charset="-120"/>
              </a:rPr>
              <a:t>• For CPU-only</a:t>
            </a:r>
            <a:endParaRPr lang="en-US" sz="1100" dirty="0"/>
          </a:p>
        </p:txBody>
      </p:sp>
      <p:sp>
        <p:nvSpPr>
          <p:cNvPr id="9" name="Text 7"/>
          <p:cNvSpPr/>
          <p:nvPr/>
        </p:nvSpPr>
        <p:spPr>
          <a:xfrm>
            <a:off x="548640" y="2039112"/>
            <a:ext cx="8046720" cy="274320"/>
          </a:xfrm>
          <a:prstGeom prst="rect">
            <a:avLst/>
          </a:prstGeom>
          <a:noFill/>
          <a:ln/>
        </p:spPr>
        <p:txBody>
          <a:bodyPr wrap="square" lIns="0" tIns="0" rIns="0" bIns="0" rtlCol="0" anchor="ctr"/>
          <a:lstStyle/>
          <a:p>
            <a:pPr marL="0" indent="0">
              <a:buNone/>
            </a:pPr>
            <a:r>
              <a:rPr lang="en-US" sz="1400" dirty="0">
                <a:solidFill>
                  <a:srgbClr val="7FD9FF"/>
                </a:solidFill>
                <a:latin typeface="Consolas" pitchFamily="34" charset="0"/>
                <a:ea typeface="Consolas" pitchFamily="34" charset="-122"/>
                <a:cs typeface="Consolas" pitchFamily="34" charset="-120"/>
              </a:rPr>
              <a:t>pip install jax</a:t>
            </a:r>
            <a:endParaRPr lang="en-US" sz="1400" dirty="0"/>
          </a:p>
        </p:txBody>
      </p:sp>
      <p:sp>
        <p:nvSpPr>
          <p:cNvPr id="10" name="Shape 8"/>
          <p:cNvSpPr/>
          <p:nvPr/>
        </p:nvSpPr>
        <p:spPr>
          <a:xfrm>
            <a:off x="365760" y="2514600"/>
            <a:ext cx="8412480" cy="621792"/>
          </a:xfrm>
          <a:prstGeom prst="rect">
            <a:avLst/>
          </a:prstGeom>
          <a:solidFill>
            <a:srgbClr val="1E2E42"/>
          </a:solidFill>
          <a:ln w="19050">
            <a:solidFill>
              <a:srgbClr val="00D4FF"/>
            </a:solidFill>
            <a:prstDash val="solid"/>
          </a:ln>
          <a:effectLst>
            <a:outerShdw blurRad="101600" dist="38100" dir="8100000" algn="bl" rotWithShape="0">
              <a:srgbClr val="000000">
                <a:alpha val="22000"/>
              </a:srgbClr>
            </a:outerShdw>
          </a:effectLst>
        </p:spPr>
        <p:txBody>
          <a:bodyPr/>
          <a:lstStyle/>
          <a:p>
            <a:endParaRPr lang="en-US"/>
          </a:p>
        </p:txBody>
      </p:sp>
      <p:sp>
        <p:nvSpPr>
          <p:cNvPr id="11" name="Shape 9"/>
          <p:cNvSpPr/>
          <p:nvPr/>
        </p:nvSpPr>
        <p:spPr>
          <a:xfrm>
            <a:off x="365760" y="2514600"/>
            <a:ext cx="64008" cy="621792"/>
          </a:xfrm>
          <a:prstGeom prst="rect">
            <a:avLst/>
          </a:prstGeom>
          <a:solidFill>
            <a:srgbClr val="00D4FF"/>
          </a:solidFill>
          <a:ln w="12700">
            <a:solidFill>
              <a:srgbClr val="00D4FF"/>
            </a:solidFill>
            <a:prstDash val="solid"/>
          </a:ln>
        </p:spPr>
        <p:txBody>
          <a:bodyPr/>
          <a:lstStyle/>
          <a:p>
            <a:endParaRPr lang="en-US"/>
          </a:p>
        </p:txBody>
      </p:sp>
      <p:sp>
        <p:nvSpPr>
          <p:cNvPr id="12" name="Text 10"/>
          <p:cNvSpPr/>
          <p:nvPr/>
        </p:nvSpPr>
        <p:spPr>
          <a:xfrm>
            <a:off x="548640" y="2551176"/>
            <a:ext cx="4572000" cy="219456"/>
          </a:xfrm>
          <a:prstGeom prst="rect">
            <a:avLst/>
          </a:prstGeom>
          <a:noFill/>
          <a:ln/>
        </p:spPr>
        <p:txBody>
          <a:bodyPr wrap="square" lIns="0" tIns="0" rIns="0" bIns="0"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 For Nvidia GPU</a:t>
            </a:r>
            <a:endParaRPr lang="en-US" sz="1100" dirty="0"/>
          </a:p>
        </p:txBody>
      </p:sp>
      <p:sp>
        <p:nvSpPr>
          <p:cNvPr id="13" name="Text 11"/>
          <p:cNvSpPr/>
          <p:nvPr/>
        </p:nvSpPr>
        <p:spPr>
          <a:xfrm>
            <a:off x="548640" y="2788920"/>
            <a:ext cx="8046720" cy="274320"/>
          </a:xfrm>
          <a:prstGeom prst="rect">
            <a:avLst/>
          </a:prstGeom>
          <a:noFill/>
          <a:ln/>
        </p:spPr>
        <p:txBody>
          <a:bodyPr wrap="square" lIns="0" tIns="0" rIns="0" bIns="0" rtlCol="0" anchor="ctr"/>
          <a:lstStyle/>
          <a:p>
            <a:pPr marL="0" indent="0">
              <a:buNone/>
            </a:pPr>
            <a:r>
              <a:rPr lang="en-US" sz="1400" dirty="0">
                <a:solidFill>
                  <a:srgbClr val="7FD9FF"/>
                </a:solidFill>
                <a:latin typeface="Consolas" pitchFamily="34" charset="0"/>
                <a:ea typeface="Consolas" pitchFamily="34" charset="-122"/>
                <a:cs typeface="Consolas" pitchFamily="34" charset="-120"/>
              </a:rPr>
              <a:t>pip install -U "jax[cuda13]"</a:t>
            </a:r>
            <a:endParaRPr lang="en-US" sz="1400" dirty="0"/>
          </a:p>
        </p:txBody>
      </p:sp>
      <p:sp>
        <p:nvSpPr>
          <p:cNvPr id="14" name="Shape 12"/>
          <p:cNvSpPr/>
          <p:nvPr/>
        </p:nvSpPr>
        <p:spPr>
          <a:xfrm>
            <a:off x="365760" y="3264408"/>
            <a:ext cx="8412480" cy="621792"/>
          </a:xfrm>
          <a:prstGeom prst="rect">
            <a:avLst/>
          </a:prstGeom>
          <a:solidFill>
            <a:srgbClr val="1E2E42"/>
          </a:solidFill>
          <a:ln w="19050">
            <a:solidFill>
              <a:srgbClr val="7B61FF"/>
            </a:solidFill>
            <a:prstDash val="solid"/>
          </a:ln>
          <a:effectLst>
            <a:outerShdw blurRad="101600" dist="38100" dir="8100000" algn="bl" rotWithShape="0">
              <a:srgbClr val="000000">
                <a:alpha val="22000"/>
              </a:srgbClr>
            </a:outerShdw>
          </a:effectLst>
        </p:spPr>
        <p:txBody>
          <a:bodyPr/>
          <a:lstStyle/>
          <a:p>
            <a:endParaRPr lang="en-US"/>
          </a:p>
        </p:txBody>
      </p:sp>
      <p:sp>
        <p:nvSpPr>
          <p:cNvPr id="15" name="Shape 13"/>
          <p:cNvSpPr/>
          <p:nvPr/>
        </p:nvSpPr>
        <p:spPr>
          <a:xfrm>
            <a:off x="365760" y="3264408"/>
            <a:ext cx="64008" cy="621792"/>
          </a:xfrm>
          <a:prstGeom prst="rect">
            <a:avLst/>
          </a:prstGeom>
          <a:solidFill>
            <a:srgbClr val="7B61FF"/>
          </a:solidFill>
          <a:ln w="12700">
            <a:solidFill>
              <a:srgbClr val="7B61FF"/>
            </a:solidFill>
            <a:prstDash val="solid"/>
          </a:ln>
        </p:spPr>
        <p:txBody>
          <a:bodyPr/>
          <a:lstStyle/>
          <a:p>
            <a:endParaRPr lang="en-US"/>
          </a:p>
        </p:txBody>
      </p:sp>
      <p:sp>
        <p:nvSpPr>
          <p:cNvPr id="16" name="Text 14"/>
          <p:cNvSpPr/>
          <p:nvPr/>
        </p:nvSpPr>
        <p:spPr>
          <a:xfrm>
            <a:off x="548640" y="3300984"/>
            <a:ext cx="4572000" cy="219456"/>
          </a:xfrm>
          <a:prstGeom prst="rect">
            <a:avLst/>
          </a:prstGeom>
          <a:noFill/>
          <a:ln/>
        </p:spPr>
        <p:txBody>
          <a:bodyPr wrap="square" lIns="0" tIns="0" rIns="0" bIns="0" rtlCol="0" anchor="ctr"/>
          <a:lstStyle/>
          <a:p>
            <a:pPr marL="0" indent="0">
              <a:buNone/>
            </a:pPr>
            <a:r>
              <a:rPr lang="en-US" sz="1100" b="1" dirty="0">
                <a:solidFill>
                  <a:srgbClr val="7B61FF"/>
                </a:solidFill>
                <a:latin typeface="Calibri" pitchFamily="34" charset="0"/>
                <a:ea typeface="Calibri" pitchFamily="34" charset="-122"/>
                <a:cs typeface="Calibri" pitchFamily="34" charset="-120"/>
              </a:rPr>
              <a:t>• For GPU (AMD, ROCm)</a:t>
            </a:r>
            <a:endParaRPr lang="en-US" sz="1100" dirty="0"/>
          </a:p>
        </p:txBody>
      </p:sp>
      <p:sp>
        <p:nvSpPr>
          <p:cNvPr id="17" name="Text 15"/>
          <p:cNvSpPr/>
          <p:nvPr/>
        </p:nvSpPr>
        <p:spPr>
          <a:xfrm>
            <a:off x="548640" y="3538728"/>
            <a:ext cx="8046720" cy="274320"/>
          </a:xfrm>
          <a:prstGeom prst="rect">
            <a:avLst/>
          </a:prstGeom>
          <a:noFill/>
          <a:ln/>
        </p:spPr>
        <p:txBody>
          <a:bodyPr wrap="square" lIns="0" tIns="0" rIns="0" bIns="0" rtlCol="0" anchor="ctr"/>
          <a:lstStyle/>
          <a:p>
            <a:pPr marL="0" indent="0">
              <a:buNone/>
            </a:pPr>
            <a:r>
              <a:rPr lang="en-US" sz="1400" dirty="0">
                <a:solidFill>
                  <a:srgbClr val="7FD9FF"/>
                </a:solidFill>
                <a:latin typeface="Consolas" pitchFamily="34" charset="0"/>
                <a:ea typeface="Consolas" pitchFamily="34" charset="-122"/>
                <a:cs typeface="Consolas" pitchFamily="34" charset="-120"/>
              </a:rPr>
              <a:t>pip install -U "jax[rocm7-local]"</a:t>
            </a:r>
            <a:endParaRPr lang="en-US" sz="1400" dirty="0"/>
          </a:p>
        </p:txBody>
      </p:sp>
      <p:sp>
        <p:nvSpPr>
          <p:cNvPr id="18" name="Shape 16"/>
          <p:cNvSpPr/>
          <p:nvPr/>
        </p:nvSpPr>
        <p:spPr>
          <a:xfrm>
            <a:off x="365760" y="4014216"/>
            <a:ext cx="8412480" cy="621792"/>
          </a:xfrm>
          <a:prstGeom prst="rect">
            <a:avLst/>
          </a:prstGeom>
          <a:solidFill>
            <a:srgbClr val="1E2E42"/>
          </a:solidFill>
          <a:ln w="19050">
            <a:solidFill>
              <a:srgbClr val="FF9F45"/>
            </a:solidFill>
            <a:prstDash val="solid"/>
          </a:ln>
          <a:effectLst>
            <a:outerShdw blurRad="101600" dist="38100" dir="8100000" algn="bl" rotWithShape="0">
              <a:srgbClr val="000000">
                <a:alpha val="22000"/>
              </a:srgbClr>
            </a:outerShdw>
          </a:effectLst>
        </p:spPr>
        <p:txBody>
          <a:bodyPr/>
          <a:lstStyle/>
          <a:p>
            <a:endParaRPr lang="en-US"/>
          </a:p>
        </p:txBody>
      </p:sp>
      <p:sp>
        <p:nvSpPr>
          <p:cNvPr id="19" name="Shape 17"/>
          <p:cNvSpPr/>
          <p:nvPr/>
        </p:nvSpPr>
        <p:spPr>
          <a:xfrm>
            <a:off x="365760" y="4014216"/>
            <a:ext cx="64008" cy="621792"/>
          </a:xfrm>
          <a:prstGeom prst="rect">
            <a:avLst/>
          </a:prstGeom>
          <a:solidFill>
            <a:srgbClr val="FF9F45"/>
          </a:solidFill>
          <a:ln w="12700">
            <a:solidFill>
              <a:srgbClr val="FF9F45"/>
            </a:solidFill>
            <a:prstDash val="solid"/>
          </a:ln>
        </p:spPr>
        <p:txBody>
          <a:bodyPr/>
          <a:lstStyle/>
          <a:p>
            <a:endParaRPr lang="en-US"/>
          </a:p>
        </p:txBody>
      </p:sp>
      <p:sp>
        <p:nvSpPr>
          <p:cNvPr id="20" name="Text 18"/>
          <p:cNvSpPr/>
          <p:nvPr/>
        </p:nvSpPr>
        <p:spPr>
          <a:xfrm>
            <a:off x="548640" y="4050792"/>
            <a:ext cx="4572000" cy="219456"/>
          </a:xfrm>
          <a:prstGeom prst="rect">
            <a:avLst/>
          </a:prstGeom>
          <a:noFill/>
          <a:ln/>
        </p:spPr>
        <p:txBody>
          <a:bodyPr wrap="square" lIns="0" tIns="0" rIns="0" bIns="0" rtlCol="0" anchor="ctr"/>
          <a:lstStyle/>
          <a:p>
            <a:pPr marL="0" indent="0">
              <a:buNone/>
            </a:pPr>
            <a:r>
              <a:rPr lang="en-US" sz="1100" b="1" dirty="0">
                <a:solidFill>
                  <a:srgbClr val="FF9F45"/>
                </a:solidFill>
                <a:latin typeface="Calibri" pitchFamily="34" charset="0"/>
                <a:ea typeface="Calibri" pitchFamily="34" charset="-122"/>
                <a:cs typeface="Calibri" pitchFamily="34" charset="-120"/>
              </a:rPr>
              <a:t>• For TPU (Google cloud TPU VM)</a:t>
            </a:r>
            <a:endParaRPr lang="en-US" sz="1100" dirty="0"/>
          </a:p>
        </p:txBody>
      </p:sp>
      <p:sp>
        <p:nvSpPr>
          <p:cNvPr id="21" name="Text 19"/>
          <p:cNvSpPr/>
          <p:nvPr/>
        </p:nvSpPr>
        <p:spPr>
          <a:xfrm>
            <a:off x="548640" y="4288536"/>
            <a:ext cx="8046720" cy="274320"/>
          </a:xfrm>
          <a:prstGeom prst="rect">
            <a:avLst/>
          </a:prstGeom>
          <a:noFill/>
          <a:ln/>
        </p:spPr>
        <p:txBody>
          <a:bodyPr wrap="square" lIns="0" tIns="0" rIns="0" bIns="0" rtlCol="0" anchor="ctr"/>
          <a:lstStyle/>
          <a:p>
            <a:pPr marL="0" indent="0">
              <a:buNone/>
            </a:pPr>
            <a:r>
              <a:rPr lang="en-US" sz="1400" dirty="0">
                <a:solidFill>
                  <a:srgbClr val="7FD9FF"/>
                </a:solidFill>
                <a:latin typeface="Consolas" pitchFamily="34" charset="0"/>
                <a:ea typeface="Consolas" pitchFamily="34" charset="-122"/>
                <a:cs typeface="Consolas" pitchFamily="34" charset="-120"/>
              </a:rPr>
              <a:t>pip install -U "jax[tpu]"</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vs. NumPy</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Text 2"/>
          <p:cNvSpPr/>
          <p:nvPr/>
        </p:nvSpPr>
        <p:spPr>
          <a:xfrm>
            <a:off x="457200" y="841248"/>
            <a:ext cx="8229600" cy="347472"/>
          </a:xfrm>
          <a:prstGeom prst="rect">
            <a:avLst/>
          </a:prstGeom>
          <a:noFill/>
          <a:ln/>
        </p:spPr>
        <p:txBody>
          <a:bodyPr wrap="square" lIns="0" tIns="0" rIns="0" bIns="0" rtlCol="0" anchor="ctr"/>
          <a:lstStyle/>
          <a:p>
            <a:pPr marL="0" indent="0">
              <a:buNone/>
            </a:pPr>
            <a:r>
              <a:rPr lang="en-US" sz="1250" dirty="0">
                <a:solidFill>
                  <a:srgbClr val="A0B4CC"/>
                </a:solidFill>
                <a:latin typeface="Calibri" pitchFamily="34" charset="0"/>
                <a:ea typeface="Calibri" pitchFamily="34" charset="-122"/>
                <a:cs typeface="Calibri" pitchFamily="34" charset="-120"/>
              </a:rPr>
              <a:t>JAX provides a NumPy-inspired interface for convenience, and unlike NumPy arrays, JAX arrays are always immutable.</a:t>
            </a:r>
            <a:endParaRPr lang="en-US" sz="1250" dirty="0"/>
          </a:p>
        </p:txBody>
      </p:sp>
      <p:sp>
        <p:nvSpPr>
          <p:cNvPr id="5" name="Text 3"/>
          <p:cNvSpPr/>
          <p:nvPr/>
        </p:nvSpPr>
        <p:spPr>
          <a:xfrm>
            <a:off x="457200" y="1188720"/>
            <a:ext cx="82296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JAX provides </a:t>
            </a:r>
            <a:r>
              <a:rPr lang="en-US" sz="1250" dirty="0">
                <a:solidFill>
                  <a:srgbClr val="00D4FF"/>
                </a:solidFill>
                <a:latin typeface="Consolas" pitchFamily="34" charset="0"/>
                <a:ea typeface="Consolas" pitchFamily="34" charset="-122"/>
                <a:cs typeface="Consolas" pitchFamily="34" charset="-120"/>
              </a:rPr>
              <a:t>jax.numpy</a:t>
            </a:r>
            <a:r>
              <a:rPr lang="en-US" sz="1250" dirty="0">
                <a:solidFill>
                  <a:srgbClr val="FFFFFF"/>
                </a:solidFill>
                <a:latin typeface="Calibri" pitchFamily="34" charset="0"/>
                <a:ea typeface="Calibri" pitchFamily="34" charset="-122"/>
                <a:cs typeface="Calibri" pitchFamily="34" charset="-120"/>
              </a:rPr>
              <a:t> which closely mirrors the NumPy API and provides easy entry into JAX, almost anything that can be done with numpy can be done with jax.numpy which is typically imported under the </a:t>
            </a:r>
            <a:r>
              <a:rPr lang="en-US" sz="1250" dirty="0">
                <a:solidFill>
                  <a:srgbClr val="00D4FF"/>
                </a:solidFill>
                <a:latin typeface="Consolas" pitchFamily="34" charset="0"/>
                <a:ea typeface="Consolas" pitchFamily="34" charset="-122"/>
                <a:cs typeface="Consolas" pitchFamily="34" charset="-120"/>
              </a:rPr>
              <a:t>jnp</a:t>
            </a:r>
            <a:r>
              <a:rPr lang="en-US" sz="1250" dirty="0">
                <a:solidFill>
                  <a:srgbClr val="FFFFFF"/>
                </a:solidFill>
                <a:latin typeface="Calibri" pitchFamily="34" charset="0"/>
                <a:ea typeface="Calibri" pitchFamily="34" charset="-122"/>
                <a:cs typeface="Calibri" pitchFamily="34" charset="-120"/>
              </a:rPr>
              <a:t> alias:</a:t>
            </a:r>
            <a:endParaRPr lang="en-US" sz="1250" dirty="0"/>
          </a:p>
        </p:txBody>
      </p:sp>
      <p:sp>
        <p:nvSpPr>
          <p:cNvPr id="6" name="Shape 4"/>
          <p:cNvSpPr/>
          <p:nvPr/>
        </p:nvSpPr>
        <p:spPr>
          <a:xfrm>
            <a:off x="457200" y="1618488"/>
            <a:ext cx="3657600" cy="320040"/>
          </a:xfrm>
          <a:prstGeom prst="rect">
            <a:avLst/>
          </a:prstGeom>
          <a:solidFill>
            <a:srgbClr val="1E2E42"/>
          </a:solidFill>
          <a:ln w="12700">
            <a:solidFill>
              <a:srgbClr val="00D4FF"/>
            </a:solidFill>
            <a:prstDash val="solid"/>
          </a:ln>
        </p:spPr>
        <p:txBody>
          <a:bodyPr/>
          <a:lstStyle/>
          <a:p>
            <a:endParaRPr lang="en-US"/>
          </a:p>
        </p:txBody>
      </p:sp>
      <p:sp>
        <p:nvSpPr>
          <p:cNvPr id="7" name="Text 5"/>
          <p:cNvSpPr/>
          <p:nvPr/>
        </p:nvSpPr>
        <p:spPr>
          <a:xfrm>
            <a:off x="594360" y="1618488"/>
            <a:ext cx="3474720" cy="320040"/>
          </a:xfrm>
          <a:prstGeom prst="rect">
            <a:avLst/>
          </a:prstGeom>
          <a:noFill/>
          <a:ln/>
        </p:spPr>
        <p:txBody>
          <a:bodyPr wrap="square" lIns="0" tIns="0" rIns="0" bIns="0" rtlCol="0" anchor="ctr"/>
          <a:lstStyle/>
          <a:p>
            <a:pPr marL="0" indent="0">
              <a:buNone/>
            </a:pPr>
            <a:r>
              <a:rPr lang="en-US" sz="1200" dirty="0">
                <a:solidFill>
                  <a:srgbClr val="7FD9FF"/>
                </a:solidFill>
                <a:latin typeface="Consolas" pitchFamily="34" charset="0"/>
                <a:ea typeface="Consolas" pitchFamily="34" charset="-122"/>
                <a:cs typeface="Consolas" pitchFamily="34" charset="-120"/>
              </a:rPr>
              <a:t>import jax.numpy as jnp</a:t>
            </a:r>
            <a:endParaRPr lang="en-US" sz="1200" dirty="0"/>
          </a:p>
        </p:txBody>
      </p:sp>
      <p:sp>
        <p:nvSpPr>
          <p:cNvPr id="8" name="Text 6"/>
          <p:cNvSpPr/>
          <p:nvPr/>
        </p:nvSpPr>
        <p:spPr>
          <a:xfrm>
            <a:off x="457200" y="1993392"/>
            <a:ext cx="8229600"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Python's duck-typing allows JAX arrays and NumPy arrays to be used interchangeably in many places. However, there is one important difference: </a:t>
            </a:r>
            <a:r>
              <a:rPr lang="en-US" sz="1250" b="1" dirty="0">
                <a:solidFill>
                  <a:srgbClr val="00D4FF"/>
                </a:solidFill>
                <a:latin typeface="Calibri" pitchFamily="34" charset="0"/>
                <a:ea typeface="Calibri" pitchFamily="34" charset="-122"/>
                <a:cs typeface="Calibri" pitchFamily="34" charset="-120"/>
              </a:rPr>
              <a:t>JAX arrays are immutable</a:t>
            </a:r>
            <a:r>
              <a:rPr lang="en-US" sz="1250" dirty="0">
                <a:solidFill>
                  <a:srgbClr val="FFFFFF"/>
                </a:solidFill>
                <a:latin typeface="Calibri" pitchFamily="34" charset="0"/>
                <a:ea typeface="Calibri" pitchFamily="34" charset="-122"/>
                <a:cs typeface="Calibri" pitchFamily="34" charset="-120"/>
              </a:rPr>
              <a:t>, meaning that once created their contents cannot be changed.</a:t>
            </a:r>
            <a:endParaRPr lang="en-US" sz="1250" dirty="0"/>
          </a:p>
        </p:txBody>
      </p:sp>
      <p:pic>
        <p:nvPicPr>
          <p:cNvPr id="9" name="Image 0" descr="preencoded.png"/>
          <p:cNvPicPr>
            <a:picLocks noChangeAspect="1"/>
          </p:cNvPicPr>
          <p:nvPr/>
        </p:nvPicPr>
        <p:blipFill>
          <a:blip r:embed="rId3"/>
          <a:stretch>
            <a:fillRect/>
          </a:stretch>
        </p:blipFill>
        <p:spPr>
          <a:xfrm>
            <a:off x="365760" y="2542032"/>
            <a:ext cx="4023360" cy="1234440"/>
          </a:xfrm>
          <a:prstGeom prst="rect">
            <a:avLst/>
          </a:prstGeom>
        </p:spPr>
      </p:pic>
      <p:pic>
        <p:nvPicPr>
          <p:cNvPr id="10" name="Image 1" descr="preencoded.png"/>
          <p:cNvPicPr>
            <a:picLocks noChangeAspect="1"/>
          </p:cNvPicPr>
          <p:nvPr/>
        </p:nvPicPr>
        <p:blipFill>
          <a:blip r:embed="rId4"/>
          <a:stretch>
            <a:fillRect/>
          </a:stretch>
        </p:blipFill>
        <p:spPr>
          <a:xfrm>
            <a:off x="4663440" y="2542032"/>
            <a:ext cx="4023360" cy="1234440"/>
          </a:xfrm>
          <a:prstGeom prst="rect">
            <a:avLst/>
          </a:prstGeom>
        </p:spPr>
      </p:pic>
      <p:sp>
        <p:nvSpPr>
          <p:cNvPr id="11" name="Text 7"/>
          <p:cNvSpPr/>
          <p:nvPr/>
        </p:nvSpPr>
        <p:spPr>
          <a:xfrm>
            <a:off x="5307677" y="4037630"/>
            <a:ext cx="3566160" cy="90470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For updating individual elements, JAX provides an indexed update syntax that returns an updated copy</a:t>
            </a:r>
            <a:endParaRPr lang="en-US" sz="1250" dirty="0"/>
          </a:p>
        </p:txBody>
      </p:sp>
      <p:pic>
        <p:nvPicPr>
          <p:cNvPr id="12" name="Image 2" descr="preencoded.png"/>
          <p:cNvPicPr>
            <a:picLocks noChangeAspect="1"/>
          </p:cNvPicPr>
          <p:nvPr/>
        </p:nvPicPr>
        <p:blipFill>
          <a:blip r:embed="rId5"/>
          <a:stretch>
            <a:fillRect/>
          </a:stretch>
        </p:blipFill>
        <p:spPr>
          <a:xfrm>
            <a:off x="365760" y="3849624"/>
            <a:ext cx="4754880" cy="11978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vs. NumPy — Out-of-Bounds Indexing</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Text 2"/>
          <p:cNvSpPr/>
          <p:nvPr/>
        </p:nvSpPr>
        <p:spPr>
          <a:xfrm>
            <a:off x="457200" y="914400"/>
            <a:ext cx="8229600" cy="347472"/>
          </a:xfrm>
          <a:prstGeom prst="rect">
            <a:avLst/>
          </a:prstGeom>
          <a:noFill/>
          <a:ln/>
        </p:spPr>
        <p:txBody>
          <a:bodyPr wrap="square" lIns="0" tIns="0" rIns="0" bIns="0" rtlCol="0" anchor="ctr"/>
          <a:lstStyle/>
          <a:p>
            <a:pPr marL="0" indent="0">
              <a:buNone/>
            </a:pPr>
            <a:r>
              <a:rPr lang="en-US" sz="1400" b="1" dirty="0">
                <a:solidFill>
                  <a:srgbClr val="00D4FF"/>
                </a:solidFill>
                <a:latin typeface="Calibri" pitchFamily="34" charset="0"/>
                <a:ea typeface="Calibri" pitchFamily="34" charset="-122"/>
                <a:cs typeface="Calibri" pitchFamily="34" charset="-120"/>
              </a:rPr>
              <a:t>• Out-of-bounds indexing:</a:t>
            </a:r>
            <a:endParaRPr lang="en-US" sz="1400" dirty="0"/>
          </a:p>
        </p:txBody>
      </p:sp>
      <p:sp>
        <p:nvSpPr>
          <p:cNvPr id="5" name="Text 3"/>
          <p:cNvSpPr/>
          <p:nvPr/>
        </p:nvSpPr>
        <p:spPr>
          <a:xfrm>
            <a:off x="457200" y="1353312"/>
            <a:ext cx="1828800" cy="274320"/>
          </a:xfrm>
          <a:prstGeom prst="rect">
            <a:avLst/>
          </a:prstGeom>
          <a:noFill/>
          <a:ln/>
        </p:spPr>
        <p:txBody>
          <a:bodyPr wrap="square" lIns="0" tIns="0" rIns="0" bIns="0" rtlCol="0" anchor="ctr"/>
          <a:lstStyle/>
          <a:p>
            <a:pPr marL="0" indent="0">
              <a:buNone/>
            </a:pPr>
            <a:r>
              <a:rPr lang="en-US" sz="1300" b="1" dirty="0">
                <a:solidFill>
                  <a:srgbClr val="A0B4CC"/>
                </a:solidFill>
                <a:latin typeface="Calibri" pitchFamily="34" charset="0"/>
                <a:ea typeface="Calibri" pitchFamily="34" charset="-122"/>
                <a:cs typeface="Calibri" pitchFamily="34" charset="-120"/>
              </a:rPr>
              <a:t>NumPy:</a:t>
            </a:r>
            <a:endParaRPr lang="en-US" sz="1300" dirty="0"/>
          </a:p>
        </p:txBody>
      </p:sp>
      <p:pic>
        <p:nvPicPr>
          <p:cNvPr id="6" name="Image 0" descr="preencoded.png"/>
          <p:cNvPicPr>
            <a:picLocks noChangeAspect="1"/>
          </p:cNvPicPr>
          <p:nvPr/>
        </p:nvPicPr>
        <p:blipFill>
          <a:blip r:embed="rId3"/>
          <a:stretch>
            <a:fillRect/>
          </a:stretch>
        </p:blipFill>
        <p:spPr>
          <a:xfrm>
            <a:off x="365760" y="1664208"/>
            <a:ext cx="5029200" cy="777240"/>
          </a:xfrm>
          <a:prstGeom prst="rect">
            <a:avLst/>
          </a:prstGeom>
        </p:spPr>
      </p:pic>
      <p:sp>
        <p:nvSpPr>
          <p:cNvPr id="7" name="Text 4"/>
          <p:cNvSpPr/>
          <p:nvPr/>
        </p:nvSpPr>
        <p:spPr>
          <a:xfrm>
            <a:off x="457200" y="2542032"/>
            <a:ext cx="1828800" cy="274320"/>
          </a:xfrm>
          <a:prstGeom prst="rect">
            <a:avLst/>
          </a:prstGeom>
          <a:noFill/>
          <a:ln/>
        </p:spPr>
        <p:txBody>
          <a:bodyPr wrap="square" lIns="0" tIns="0" rIns="0" bIns="0" rtlCol="0" anchor="ctr"/>
          <a:lstStyle/>
          <a:p>
            <a:pPr marL="0" indent="0">
              <a:buNone/>
            </a:pPr>
            <a:r>
              <a:rPr lang="en-US" sz="1300" b="1" dirty="0">
                <a:solidFill>
                  <a:srgbClr val="A0B4CC"/>
                </a:solidFill>
                <a:latin typeface="Calibri" pitchFamily="34" charset="0"/>
                <a:ea typeface="Calibri" pitchFamily="34" charset="-122"/>
                <a:cs typeface="Calibri" pitchFamily="34" charset="-120"/>
              </a:rPr>
              <a:t>JAX:</a:t>
            </a:r>
            <a:endParaRPr lang="en-US" sz="1300" dirty="0"/>
          </a:p>
        </p:txBody>
      </p:sp>
      <p:pic>
        <p:nvPicPr>
          <p:cNvPr id="8" name="Image 1" descr="preencoded.png"/>
          <p:cNvPicPr>
            <a:picLocks noChangeAspect="1"/>
          </p:cNvPicPr>
          <p:nvPr/>
        </p:nvPicPr>
        <p:blipFill>
          <a:blip r:embed="rId4"/>
          <a:stretch>
            <a:fillRect/>
          </a:stretch>
        </p:blipFill>
        <p:spPr>
          <a:xfrm>
            <a:off x="365760" y="2852928"/>
            <a:ext cx="4023360" cy="685800"/>
          </a:xfrm>
          <a:prstGeom prst="rect">
            <a:avLst/>
          </a:prstGeom>
        </p:spPr>
      </p:pic>
      <p:sp>
        <p:nvSpPr>
          <p:cNvPr id="9" name="Text 5"/>
          <p:cNvSpPr/>
          <p:nvPr/>
        </p:nvSpPr>
        <p:spPr>
          <a:xfrm>
            <a:off x="457200" y="3675888"/>
            <a:ext cx="8229600" cy="411480"/>
          </a:xfrm>
          <a:prstGeom prst="rect">
            <a:avLst/>
          </a:prstGeom>
          <a:noFill/>
          <a:ln/>
        </p:spPr>
        <p:txBody>
          <a:bodyPr wrap="square" lIns="0" tIns="0" rIns="0" bIns="0" rtlCol="0" anchor="ctr"/>
          <a:lstStyle/>
          <a:p>
            <a:pPr marL="0" indent="0">
              <a:buNone/>
            </a:pPr>
            <a:r>
              <a:rPr lang="en-US" sz="1300" i="1" dirty="0">
                <a:solidFill>
                  <a:srgbClr val="A0B4CC"/>
                </a:solidFill>
                <a:latin typeface="Calibri" pitchFamily="34" charset="0"/>
                <a:ea typeface="Calibri" pitchFamily="34" charset="-122"/>
                <a:cs typeface="Calibri" pitchFamily="34" charset="-120"/>
              </a:rPr>
              <a:t>Unlike NumPy, JAX does not raise an IndexError for out-of-bounds access — instead it clips the index to the last valid value.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Common Functions</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Shape 2"/>
          <p:cNvSpPr/>
          <p:nvPr/>
        </p:nvSpPr>
        <p:spPr>
          <a:xfrm>
            <a:off x="365760" y="841248"/>
            <a:ext cx="8412480" cy="365760"/>
          </a:xfrm>
          <a:prstGeom prst="rect">
            <a:avLst/>
          </a:prstGeom>
          <a:solidFill>
            <a:srgbClr val="00D4FF">
              <a:alpha val="20000"/>
            </a:srgbClr>
          </a:solidFill>
          <a:ln w="12700">
            <a:solidFill>
              <a:srgbClr val="00D4FF"/>
            </a:solidFill>
            <a:prstDash val="solid"/>
          </a:ln>
        </p:spPr>
        <p:txBody>
          <a:bodyPr/>
          <a:lstStyle/>
          <a:p>
            <a:endParaRPr lang="en-US"/>
          </a:p>
        </p:txBody>
      </p:sp>
      <p:sp>
        <p:nvSpPr>
          <p:cNvPr id="5" name="Text 3"/>
          <p:cNvSpPr/>
          <p:nvPr/>
        </p:nvSpPr>
        <p:spPr>
          <a:xfrm>
            <a:off x="548640" y="841248"/>
            <a:ext cx="8229600" cy="365760"/>
          </a:xfrm>
          <a:prstGeom prst="rect">
            <a:avLst/>
          </a:prstGeom>
          <a:noFill/>
          <a:ln/>
        </p:spPr>
        <p:txBody>
          <a:bodyPr wrap="square" lIns="0" tIns="0" rIns="0" bIns="0" rtlCol="0" anchor="ctr"/>
          <a:lstStyle/>
          <a:p>
            <a:pPr marL="0" indent="0">
              <a:buNone/>
            </a:pPr>
            <a:r>
              <a:rPr lang="en-US" sz="1600" b="1" dirty="0">
                <a:solidFill>
                  <a:srgbClr val="00D4FF"/>
                </a:solidFill>
                <a:latin typeface="Calibri" pitchFamily="34" charset="0"/>
                <a:ea typeface="Calibri" pitchFamily="34" charset="-122"/>
                <a:cs typeface="Calibri" pitchFamily="34" charset="-120"/>
              </a:rPr>
              <a:t>1- Jax.array function</a:t>
            </a:r>
            <a:endParaRPr lang="en-US" sz="1600" dirty="0"/>
          </a:p>
        </p:txBody>
      </p:sp>
      <p:sp>
        <p:nvSpPr>
          <p:cNvPr id="6" name="Shape 4"/>
          <p:cNvSpPr/>
          <p:nvPr/>
        </p:nvSpPr>
        <p:spPr>
          <a:xfrm>
            <a:off x="502920" y="1380744"/>
            <a:ext cx="118872" cy="118872"/>
          </a:xfrm>
          <a:prstGeom prst="ellipse">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731520" y="1307592"/>
            <a:ext cx="795528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Create arrays using JAX API functions</a:t>
            </a:r>
            <a:endParaRPr lang="en-US" sz="1300" dirty="0"/>
          </a:p>
        </p:txBody>
      </p:sp>
      <p:sp>
        <p:nvSpPr>
          <p:cNvPr id="8" name="Shape 6"/>
          <p:cNvSpPr/>
          <p:nvPr/>
        </p:nvSpPr>
        <p:spPr>
          <a:xfrm>
            <a:off x="502920" y="1728216"/>
            <a:ext cx="118872" cy="118872"/>
          </a:xfrm>
          <a:prstGeom prst="ellipse">
            <a:avLst/>
          </a:prstGeom>
          <a:solidFill>
            <a:srgbClr val="00D4FF"/>
          </a:solidFill>
          <a:ln w="12700">
            <a:solidFill>
              <a:srgbClr val="00D4FF"/>
            </a:solidFill>
            <a:prstDash val="solid"/>
          </a:ln>
        </p:spPr>
        <p:txBody>
          <a:bodyPr/>
          <a:lstStyle/>
          <a:p>
            <a:endParaRPr lang="en-US"/>
          </a:p>
        </p:txBody>
      </p:sp>
      <p:sp>
        <p:nvSpPr>
          <p:cNvPr id="9" name="Text 7"/>
          <p:cNvSpPr/>
          <p:nvPr/>
        </p:nvSpPr>
        <p:spPr>
          <a:xfrm>
            <a:off x="731520" y="1655064"/>
            <a:ext cx="795528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array objects have a devices attribute that indicate where the array is stored</a:t>
            </a:r>
            <a:endParaRPr lang="en-US" sz="1300" dirty="0"/>
          </a:p>
        </p:txBody>
      </p:sp>
      <p:sp>
        <p:nvSpPr>
          <p:cNvPr id="10" name="Shape 8"/>
          <p:cNvSpPr/>
          <p:nvPr/>
        </p:nvSpPr>
        <p:spPr>
          <a:xfrm>
            <a:off x="502920" y="2075688"/>
            <a:ext cx="118872" cy="118872"/>
          </a:xfrm>
          <a:prstGeom prst="ellipse">
            <a:avLst/>
          </a:prstGeom>
          <a:solidFill>
            <a:srgbClr val="00D4FF"/>
          </a:solidFill>
          <a:ln w="12700">
            <a:solidFill>
              <a:srgbClr val="00D4FF"/>
            </a:solidFill>
            <a:prstDash val="solid"/>
          </a:ln>
        </p:spPr>
        <p:txBody>
          <a:bodyPr/>
          <a:lstStyle/>
          <a:p>
            <a:endParaRPr lang="en-US"/>
          </a:p>
        </p:txBody>
      </p:sp>
      <p:sp>
        <p:nvSpPr>
          <p:cNvPr id="11" name="Text 9"/>
          <p:cNvSpPr/>
          <p:nvPr/>
        </p:nvSpPr>
        <p:spPr>
          <a:xfrm>
            <a:off x="731520" y="2002536"/>
            <a:ext cx="795528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arrays can be sharded across multiple devices for parallel computation</a:t>
            </a:r>
            <a:endParaRPr lang="en-US" sz="1300" dirty="0"/>
          </a:p>
        </p:txBody>
      </p:sp>
      <p:sp>
        <p:nvSpPr>
          <p:cNvPr id="12" name="Text 10"/>
          <p:cNvSpPr/>
          <p:nvPr/>
        </p:nvSpPr>
        <p:spPr>
          <a:xfrm>
            <a:off x="457200" y="2395728"/>
            <a:ext cx="8229600" cy="548640"/>
          </a:xfrm>
          <a:prstGeom prst="rect">
            <a:avLst/>
          </a:prstGeom>
          <a:noFill/>
          <a:ln/>
        </p:spPr>
        <p:txBody>
          <a:bodyPr wrap="square" lIns="0" tIns="0" rIns="0" bIns="0" rtlCol="0" anchor="ctr"/>
          <a:lstStyle/>
          <a:p>
            <a:pPr marL="0" indent="0">
              <a:buNone/>
            </a:pPr>
            <a:r>
              <a:rPr lang="en-US" sz="1200" i="1" dirty="0">
                <a:solidFill>
                  <a:srgbClr val="00D4FF"/>
                </a:solidFill>
                <a:latin typeface="Calibri" pitchFamily="34" charset="0"/>
                <a:ea typeface="Calibri" pitchFamily="34" charset="-122"/>
                <a:cs typeface="Calibri" pitchFamily="34" charset="-120"/>
              </a:rPr>
              <a:t>We typically don't call the jax.array constructor directly, but rather create arrays via JAX API functions. For example, jax.numpy provides familiar NumPy-style array construction functionality such as jax.numpy.zeros, jax.numpy.linspace, jax.numpy.arange</a:t>
            </a:r>
            <a:endParaRPr lang="en-US" sz="1200" dirty="0"/>
          </a:p>
        </p:txBody>
      </p:sp>
      <p:pic>
        <p:nvPicPr>
          <p:cNvPr id="13" name="Image 0" descr="preencoded.png"/>
          <p:cNvPicPr>
            <a:picLocks noChangeAspect="1"/>
          </p:cNvPicPr>
          <p:nvPr/>
        </p:nvPicPr>
        <p:blipFill>
          <a:blip r:embed="rId3"/>
          <a:stretch>
            <a:fillRect/>
          </a:stretch>
        </p:blipFill>
        <p:spPr>
          <a:xfrm>
            <a:off x="365760" y="2999232"/>
            <a:ext cx="4621876" cy="1303020"/>
          </a:xfrm>
          <a:prstGeom prst="rect">
            <a:avLst/>
          </a:prstGeom>
        </p:spPr>
      </p:pic>
      <p:sp>
        <p:nvSpPr>
          <p:cNvPr id="14" name="Text 11"/>
          <p:cNvSpPr/>
          <p:nvPr/>
        </p:nvSpPr>
        <p:spPr>
          <a:xfrm>
            <a:off x="358833" y="4384548"/>
            <a:ext cx="8229600" cy="5029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JAX array objects have a devices method that lets you inspect where the contents of the array are stored. In general, an array may be sharded across multiple devices, in a manner that can be inspected via the sharding attribute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110836" y="201168"/>
            <a:ext cx="8922327"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Common Functions — jax.array: devices &amp; sharding</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914400"/>
            <a:ext cx="4114800" cy="868680"/>
          </a:xfrm>
          <a:prstGeom prst="rect">
            <a:avLst/>
          </a:prstGeom>
        </p:spPr>
      </p:pic>
      <p:pic>
        <p:nvPicPr>
          <p:cNvPr id="5" name="Image 1" descr="preencoded.png"/>
          <p:cNvPicPr>
            <a:picLocks noChangeAspect="1"/>
          </p:cNvPicPr>
          <p:nvPr/>
        </p:nvPicPr>
        <p:blipFill>
          <a:blip r:embed="rId4"/>
          <a:stretch>
            <a:fillRect/>
          </a:stretch>
        </p:blipFill>
        <p:spPr>
          <a:xfrm>
            <a:off x="365760" y="1920240"/>
            <a:ext cx="7772400" cy="836676"/>
          </a:xfrm>
          <a:prstGeom prst="rect">
            <a:avLst/>
          </a:prstGeom>
        </p:spPr>
      </p:pic>
      <p:sp>
        <p:nvSpPr>
          <p:cNvPr id="6" name="Shape 2"/>
          <p:cNvSpPr/>
          <p:nvPr/>
        </p:nvSpPr>
        <p:spPr>
          <a:xfrm>
            <a:off x="365760" y="2834640"/>
            <a:ext cx="8412480" cy="365760"/>
          </a:xfrm>
          <a:prstGeom prst="rect">
            <a:avLst/>
          </a:prstGeom>
          <a:solidFill>
            <a:srgbClr val="7B61FF">
              <a:alpha val="20000"/>
            </a:srgbClr>
          </a:solidFill>
          <a:ln w="12700">
            <a:solidFill>
              <a:srgbClr val="7B61FF"/>
            </a:solidFill>
            <a:prstDash val="solid"/>
          </a:ln>
        </p:spPr>
        <p:txBody>
          <a:bodyPr/>
          <a:lstStyle/>
          <a:p>
            <a:endParaRPr lang="en-US"/>
          </a:p>
        </p:txBody>
      </p:sp>
      <p:sp>
        <p:nvSpPr>
          <p:cNvPr id="7" name="Text 3"/>
          <p:cNvSpPr/>
          <p:nvPr/>
        </p:nvSpPr>
        <p:spPr>
          <a:xfrm>
            <a:off x="548640" y="2834640"/>
            <a:ext cx="8229600" cy="365760"/>
          </a:xfrm>
          <a:prstGeom prst="rect">
            <a:avLst/>
          </a:prstGeom>
          <a:noFill/>
          <a:ln/>
        </p:spPr>
        <p:txBody>
          <a:bodyPr wrap="square" lIns="0" tIns="0" rIns="0" bIns="0" rtlCol="0" anchor="ctr"/>
          <a:lstStyle/>
          <a:p>
            <a:pPr marL="0" indent="0">
              <a:buNone/>
            </a:pPr>
            <a:r>
              <a:rPr lang="en-US" sz="1600" b="1" dirty="0">
                <a:solidFill>
                  <a:srgbClr val="7B61FF"/>
                </a:solidFill>
                <a:latin typeface="Calibri" pitchFamily="34" charset="0"/>
                <a:ea typeface="Calibri" pitchFamily="34" charset="-122"/>
                <a:cs typeface="Calibri" pitchFamily="34" charset="-120"/>
              </a:rPr>
              <a:t>2- Jax.jit function</a:t>
            </a:r>
            <a:endParaRPr lang="en-US" sz="1600" dirty="0"/>
          </a:p>
        </p:txBody>
      </p:sp>
      <p:sp>
        <p:nvSpPr>
          <p:cNvPr id="8" name="Shape 4"/>
          <p:cNvSpPr/>
          <p:nvPr/>
        </p:nvSpPr>
        <p:spPr>
          <a:xfrm>
            <a:off x="502920" y="3383280"/>
            <a:ext cx="118872" cy="118872"/>
          </a:xfrm>
          <a:prstGeom prst="ellipse">
            <a:avLst/>
          </a:prstGeom>
          <a:solidFill>
            <a:srgbClr val="7B61FF"/>
          </a:solidFill>
          <a:ln w="12700">
            <a:solidFill>
              <a:srgbClr val="7B61FF"/>
            </a:solidFill>
            <a:prstDash val="solid"/>
          </a:ln>
        </p:spPr>
        <p:txBody>
          <a:bodyPr/>
          <a:lstStyle/>
          <a:p>
            <a:endParaRPr lang="en-US"/>
          </a:p>
        </p:txBody>
      </p:sp>
      <p:sp>
        <p:nvSpPr>
          <p:cNvPr id="9" name="Text 5"/>
          <p:cNvSpPr/>
          <p:nvPr/>
        </p:nvSpPr>
        <p:spPr>
          <a:xfrm>
            <a:off x="731520" y="3310128"/>
            <a:ext cx="7955280" cy="33832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By default, JAX executes operations one at a time, in sequence</a:t>
            </a:r>
            <a:endParaRPr lang="en-US" sz="1300" dirty="0"/>
          </a:p>
        </p:txBody>
      </p:sp>
      <p:sp>
        <p:nvSpPr>
          <p:cNvPr id="10" name="Shape 6"/>
          <p:cNvSpPr/>
          <p:nvPr/>
        </p:nvSpPr>
        <p:spPr>
          <a:xfrm>
            <a:off x="502920" y="3721608"/>
            <a:ext cx="118872" cy="118872"/>
          </a:xfrm>
          <a:prstGeom prst="ellipse">
            <a:avLst/>
          </a:prstGeom>
          <a:solidFill>
            <a:srgbClr val="7B61FF"/>
          </a:solidFill>
          <a:ln w="12700">
            <a:solidFill>
              <a:srgbClr val="7B61FF"/>
            </a:solidFill>
            <a:prstDash val="solid"/>
          </a:ln>
        </p:spPr>
        <p:txBody>
          <a:bodyPr/>
          <a:lstStyle/>
          <a:p>
            <a:endParaRPr lang="en-US"/>
          </a:p>
        </p:txBody>
      </p:sp>
      <p:sp>
        <p:nvSpPr>
          <p:cNvPr id="11" name="Text 7"/>
          <p:cNvSpPr/>
          <p:nvPr/>
        </p:nvSpPr>
        <p:spPr>
          <a:xfrm>
            <a:off x="731520" y="3648456"/>
            <a:ext cx="7955280" cy="33832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Using a just-in-time (JIT) compilation decorator, sequences of operations can be optimized together and run at once.</a:t>
            </a:r>
            <a:endParaRPr lang="en-US" sz="1300" dirty="0"/>
          </a:p>
        </p:txBody>
      </p:sp>
      <p:sp>
        <p:nvSpPr>
          <p:cNvPr id="12" name="Shape 8"/>
          <p:cNvSpPr/>
          <p:nvPr/>
        </p:nvSpPr>
        <p:spPr>
          <a:xfrm>
            <a:off x="502920" y="4059936"/>
            <a:ext cx="118872" cy="118872"/>
          </a:xfrm>
          <a:prstGeom prst="ellipse">
            <a:avLst/>
          </a:prstGeom>
          <a:solidFill>
            <a:srgbClr val="7B61FF"/>
          </a:solidFill>
          <a:ln w="12700">
            <a:solidFill>
              <a:srgbClr val="7B61FF"/>
            </a:solidFill>
            <a:prstDash val="solid"/>
          </a:ln>
        </p:spPr>
        <p:txBody>
          <a:bodyPr/>
          <a:lstStyle/>
          <a:p>
            <a:endParaRPr lang="en-US"/>
          </a:p>
        </p:txBody>
      </p:sp>
      <p:sp>
        <p:nvSpPr>
          <p:cNvPr id="13" name="Text 9"/>
          <p:cNvSpPr/>
          <p:nvPr/>
        </p:nvSpPr>
        <p:spPr>
          <a:xfrm>
            <a:off x="731520" y="3986784"/>
            <a:ext cx="7955280" cy="33832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Not all JAX code can be JIT compiled, as it requires array shapes to be static and known at compile time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Common Functions — jax.jit examples</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914400"/>
            <a:ext cx="3840480" cy="1234440"/>
          </a:xfrm>
          <a:prstGeom prst="rect">
            <a:avLst/>
          </a:prstGeom>
        </p:spPr>
      </p:pic>
      <p:pic>
        <p:nvPicPr>
          <p:cNvPr id="5" name="Image 1" descr="preencoded.png"/>
          <p:cNvPicPr>
            <a:picLocks noChangeAspect="1"/>
          </p:cNvPicPr>
          <p:nvPr/>
        </p:nvPicPr>
        <p:blipFill>
          <a:blip r:embed="rId4"/>
          <a:stretch>
            <a:fillRect/>
          </a:stretch>
        </p:blipFill>
        <p:spPr>
          <a:xfrm>
            <a:off x="365760" y="2331720"/>
            <a:ext cx="3474720" cy="640080"/>
          </a:xfrm>
          <a:prstGeom prst="rect">
            <a:avLst/>
          </a:prstGeom>
        </p:spPr>
      </p:pic>
      <p:sp>
        <p:nvSpPr>
          <p:cNvPr id="6" name="Shape 2"/>
          <p:cNvSpPr/>
          <p:nvPr/>
        </p:nvSpPr>
        <p:spPr>
          <a:xfrm>
            <a:off x="365760" y="3200400"/>
            <a:ext cx="8412480" cy="365760"/>
          </a:xfrm>
          <a:prstGeom prst="rect">
            <a:avLst/>
          </a:prstGeom>
          <a:solidFill>
            <a:srgbClr val="00E5A0">
              <a:alpha val="20000"/>
            </a:srgbClr>
          </a:solidFill>
          <a:ln w="12700">
            <a:solidFill>
              <a:srgbClr val="00E5A0"/>
            </a:solidFill>
            <a:prstDash val="solid"/>
          </a:ln>
        </p:spPr>
        <p:txBody>
          <a:bodyPr/>
          <a:lstStyle/>
          <a:p>
            <a:endParaRPr lang="en-US"/>
          </a:p>
        </p:txBody>
      </p:sp>
      <p:sp>
        <p:nvSpPr>
          <p:cNvPr id="7" name="Text 3"/>
          <p:cNvSpPr/>
          <p:nvPr/>
        </p:nvSpPr>
        <p:spPr>
          <a:xfrm>
            <a:off x="548640" y="3200400"/>
            <a:ext cx="8229600" cy="365760"/>
          </a:xfrm>
          <a:prstGeom prst="rect">
            <a:avLst/>
          </a:prstGeom>
          <a:noFill/>
          <a:ln/>
        </p:spPr>
        <p:txBody>
          <a:bodyPr wrap="square" lIns="0" tIns="0" rIns="0" bIns="0" rtlCol="0" anchor="ctr"/>
          <a:lstStyle/>
          <a:p>
            <a:pPr marL="0" indent="0">
              <a:buNone/>
            </a:pPr>
            <a:r>
              <a:rPr lang="en-US" sz="1600" b="1" dirty="0">
                <a:solidFill>
                  <a:srgbClr val="00E5A0"/>
                </a:solidFill>
                <a:latin typeface="Calibri" pitchFamily="34" charset="0"/>
                <a:ea typeface="Calibri" pitchFamily="34" charset="-122"/>
                <a:cs typeface="Calibri" pitchFamily="34" charset="-120"/>
              </a:rPr>
              <a:t>3- jax.grad function</a:t>
            </a:r>
            <a:endParaRPr lang="en-US" sz="1600" dirty="0"/>
          </a:p>
        </p:txBody>
      </p:sp>
      <p:sp>
        <p:nvSpPr>
          <p:cNvPr id="8" name="Shape 4"/>
          <p:cNvSpPr/>
          <p:nvPr/>
        </p:nvSpPr>
        <p:spPr>
          <a:xfrm>
            <a:off x="502920" y="3749040"/>
            <a:ext cx="118872" cy="118872"/>
          </a:xfrm>
          <a:prstGeom prst="ellipse">
            <a:avLst/>
          </a:prstGeom>
          <a:solidFill>
            <a:srgbClr val="00E5A0"/>
          </a:solidFill>
          <a:ln w="12700">
            <a:solidFill>
              <a:srgbClr val="00E5A0"/>
            </a:solidFill>
            <a:prstDash val="solid"/>
          </a:ln>
        </p:spPr>
        <p:txBody>
          <a:bodyPr/>
          <a:lstStyle/>
          <a:p>
            <a:endParaRPr lang="en-US"/>
          </a:p>
        </p:txBody>
      </p:sp>
      <p:sp>
        <p:nvSpPr>
          <p:cNvPr id="9" name="Text 5"/>
          <p:cNvSpPr/>
          <p:nvPr/>
        </p:nvSpPr>
        <p:spPr>
          <a:xfrm>
            <a:off x="731520" y="3675888"/>
            <a:ext cx="795528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 provides automatic differentiation via the jax.grad transformation</a:t>
            </a:r>
            <a:endParaRPr lang="en-US" sz="1300" dirty="0"/>
          </a:p>
        </p:txBody>
      </p:sp>
      <p:sp>
        <p:nvSpPr>
          <p:cNvPr id="10" name="Shape 6"/>
          <p:cNvSpPr/>
          <p:nvPr/>
        </p:nvSpPr>
        <p:spPr>
          <a:xfrm>
            <a:off x="502920" y="4096512"/>
            <a:ext cx="118872" cy="118872"/>
          </a:xfrm>
          <a:prstGeom prst="ellipse">
            <a:avLst/>
          </a:prstGeom>
          <a:solidFill>
            <a:srgbClr val="00E5A0"/>
          </a:solidFill>
          <a:ln w="12700">
            <a:solidFill>
              <a:srgbClr val="00E5A0"/>
            </a:solidFill>
            <a:prstDash val="solid"/>
          </a:ln>
        </p:spPr>
        <p:txBody>
          <a:bodyPr/>
          <a:lstStyle/>
          <a:p>
            <a:endParaRPr lang="en-US"/>
          </a:p>
        </p:txBody>
      </p:sp>
      <p:sp>
        <p:nvSpPr>
          <p:cNvPr id="11" name="Text 7"/>
          <p:cNvSpPr/>
          <p:nvPr/>
        </p:nvSpPr>
        <p:spPr>
          <a:xfrm>
            <a:off x="731520" y="4023360"/>
            <a:ext cx="795528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Jax.grad and jax.jit transformations compose and can be mixed arbitrarily</a:t>
            </a:r>
            <a:endParaRPr lang="en-US" sz="1300" dirty="0"/>
          </a:p>
        </p:txBody>
      </p:sp>
      <p:pic>
        <p:nvPicPr>
          <p:cNvPr id="12" name="Image 2" descr="preencoded.png"/>
          <p:cNvPicPr>
            <a:picLocks noChangeAspect="1"/>
          </p:cNvPicPr>
          <p:nvPr/>
        </p:nvPicPr>
        <p:blipFill>
          <a:blip r:embed="rId5"/>
          <a:stretch>
            <a:fillRect/>
          </a:stretch>
        </p:blipFill>
        <p:spPr>
          <a:xfrm>
            <a:off x="4376651" y="1069848"/>
            <a:ext cx="4642658" cy="1581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JAX Common Functions — Additional Utilities</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Text 2"/>
          <p:cNvSpPr/>
          <p:nvPr/>
        </p:nvSpPr>
        <p:spPr>
          <a:xfrm>
            <a:off x="457200" y="914400"/>
            <a:ext cx="8229600" cy="347472"/>
          </a:xfrm>
          <a:prstGeom prst="rect">
            <a:avLst/>
          </a:prstGeom>
          <a:noFill/>
          <a:ln/>
        </p:spPr>
        <p:txBody>
          <a:bodyPr wrap="square" lIns="0" tIns="0" rIns="0" bIns="0" rtlCol="0" anchor="ctr"/>
          <a:lstStyle/>
          <a:p>
            <a:pPr marL="0" indent="0">
              <a:buNone/>
            </a:pPr>
            <a:r>
              <a:rPr lang="en-US" sz="1400" i="1" dirty="0">
                <a:solidFill>
                  <a:srgbClr val="00D4FF"/>
                </a:solidFill>
                <a:latin typeface="Calibri" pitchFamily="34" charset="0"/>
                <a:ea typeface="Calibri" pitchFamily="34" charset="-122"/>
                <a:cs typeface="Calibri" pitchFamily="34" charset="-120"/>
              </a:rPr>
              <a:t>Some another useful functions can be used such as:</a:t>
            </a:r>
            <a:endParaRPr lang="en-US" sz="1400" dirty="0"/>
          </a:p>
        </p:txBody>
      </p:sp>
      <p:sp>
        <p:nvSpPr>
          <p:cNvPr id="5" name="Shape 3"/>
          <p:cNvSpPr/>
          <p:nvPr/>
        </p:nvSpPr>
        <p:spPr>
          <a:xfrm>
            <a:off x="365760" y="1371600"/>
            <a:ext cx="8412480" cy="822960"/>
          </a:xfrm>
          <a:prstGeom prst="rect">
            <a:avLst/>
          </a:prstGeom>
          <a:solidFill>
            <a:srgbClr val="162032"/>
          </a:solidFill>
          <a:ln w="19050">
            <a:solidFill>
              <a:srgbClr val="00D4FF"/>
            </a:solidFill>
            <a:prstDash val="solid"/>
          </a:ln>
          <a:effectLst>
            <a:outerShdw blurRad="101600" dist="38100" dir="8100000" algn="bl" rotWithShape="0">
              <a:srgbClr val="000000">
                <a:alpha val="22000"/>
              </a:srgbClr>
            </a:outerShdw>
          </a:effectLst>
        </p:spPr>
        <p:txBody>
          <a:bodyPr/>
          <a:lstStyle/>
          <a:p>
            <a:endParaRPr lang="en-US"/>
          </a:p>
        </p:txBody>
      </p:sp>
      <p:sp>
        <p:nvSpPr>
          <p:cNvPr id="6" name="Shape 4"/>
          <p:cNvSpPr/>
          <p:nvPr/>
        </p:nvSpPr>
        <p:spPr>
          <a:xfrm>
            <a:off x="365760" y="1371600"/>
            <a:ext cx="64008" cy="822960"/>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594360" y="1417320"/>
            <a:ext cx="1371600" cy="347472"/>
          </a:xfrm>
          <a:prstGeom prst="rect">
            <a:avLst/>
          </a:prstGeom>
          <a:noFill/>
          <a:ln/>
        </p:spPr>
        <p:txBody>
          <a:bodyPr wrap="square" lIns="0" tIns="0" rIns="0" bIns="0" rtlCol="0" anchor="ctr"/>
          <a:lstStyle/>
          <a:p>
            <a:pPr marL="0" indent="0">
              <a:buNone/>
            </a:pPr>
            <a:r>
              <a:rPr lang="en-US" sz="1800" b="1" dirty="0">
                <a:solidFill>
                  <a:srgbClr val="00D4FF"/>
                </a:solidFill>
                <a:latin typeface="Consolas" pitchFamily="34" charset="0"/>
                <a:ea typeface="Consolas" pitchFamily="34" charset="-122"/>
                <a:cs typeface="Consolas" pitchFamily="34" charset="-120"/>
              </a:rPr>
              <a:t>vmap</a:t>
            </a:r>
            <a:endParaRPr lang="en-US" sz="1800" dirty="0"/>
          </a:p>
        </p:txBody>
      </p:sp>
      <p:sp>
        <p:nvSpPr>
          <p:cNvPr id="8" name="Text 6"/>
          <p:cNvSpPr/>
          <p:nvPr/>
        </p:nvSpPr>
        <p:spPr>
          <a:xfrm>
            <a:off x="594360" y="1792224"/>
            <a:ext cx="7955280" cy="320040"/>
          </a:xfrm>
          <a:prstGeom prst="rect">
            <a:avLst/>
          </a:prstGeom>
          <a:noFill/>
          <a:ln/>
        </p:spPr>
        <p:txBody>
          <a:bodyPr wrap="square" lIns="0" tIns="0" rIns="0" bIns="0" rtlCol="0" anchor="ctr"/>
          <a:lstStyle/>
          <a:p>
            <a:pPr marL="0" indent="0">
              <a:buNone/>
            </a:pPr>
            <a:r>
              <a:rPr lang="en-US" sz="1300" dirty="0">
                <a:solidFill>
                  <a:srgbClr val="A0B4CC"/>
                </a:solidFill>
                <a:latin typeface="Calibri" pitchFamily="34" charset="0"/>
                <a:ea typeface="Calibri" pitchFamily="34" charset="-122"/>
                <a:cs typeface="Calibri" pitchFamily="34" charset="-120"/>
              </a:rPr>
              <a:t>for vectorization — automatically vectorize functions over batches of inputs</a:t>
            </a:r>
            <a:endParaRPr lang="en-US" sz="1300" dirty="0"/>
          </a:p>
        </p:txBody>
      </p:sp>
      <p:sp>
        <p:nvSpPr>
          <p:cNvPr id="9" name="Shape 7"/>
          <p:cNvSpPr/>
          <p:nvPr/>
        </p:nvSpPr>
        <p:spPr>
          <a:xfrm>
            <a:off x="365760" y="2377440"/>
            <a:ext cx="8412480" cy="822960"/>
          </a:xfrm>
          <a:prstGeom prst="rect">
            <a:avLst/>
          </a:prstGeom>
          <a:solidFill>
            <a:srgbClr val="162032"/>
          </a:solidFill>
          <a:ln w="19050">
            <a:solidFill>
              <a:srgbClr val="7B61FF"/>
            </a:solidFill>
            <a:prstDash val="solid"/>
          </a:ln>
          <a:effectLst>
            <a:outerShdw blurRad="101600" dist="38100" dir="8100000" algn="bl" rotWithShape="0">
              <a:srgbClr val="000000">
                <a:alpha val="22000"/>
              </a:srgbClr>
            </a:outerShdw>
          </a:effectLst>
        </p:spPr>
        <p:txBody>
          <a:bodyPr/>
          <a:lstStyle/>
          <a:p>
            <a:endParaRPr lang="en-US"/>
          </a:p>
        </p:txBody>
      </p:sp>
      <p:sp>
        <p:nvSpPr>
          <p:cNvPr id="10" name="Shape 8"/>
          <p:cNvSpPr/>
          <p:nvPr/>
        </p:nvSpPr>
        <p:spPr>
          <a:xfrm>
            <a:off x="365760" y="2377440"/>
            <a:ext cx="64008" cy="822960"/>
          </a:xfrm>
          <a:prstGeom prst="rect">
            <a:avLst/>
          </a:prstGeom>
          <a:solidFill>
            <a:srgbClr val="7B61FF"/>
          </a:solidFill>
          <a:ln w="12700">
            <a:solidFill>
              <a:srgbClr val="7B61FF"/>
            </a:solidFill>
            <a:prstDash val="solid"/>
          </a:ln>
        </p:spPr>
        <p:txBody>
          <a:bodyPr/>
          <a:lstStyle/>
          <a:p>
            <a:endParaRPr lang="en-US"/>
          </a:p>
        </p:txBody>
      </p:sp>
      <p:sp>
        <p:nvSpPr>
          <p:cNvPr id="11" name="Text 9"/>
          <p:cNvSpPr/>
          <p:nvPr/>
        </p:nvSpPr>
        <p:spPr>
          <a:xfrm>
            <a:off x="594360" y="2423160"/>
            <a:ext cx="1371600" cy="347472"/>
          </a:xfrm>
          <a:prstGeom prst="rect">
            <a:avLst/>
          </a:prstGeom>
          <a:noFill/>
          <a:ln/>
        </p:spPr>
        <p:txBody>
          <a:bodyPr wrap="square" lIns="0" tIns="0" rIns="0" bIns="0" rtlCol="0" anchor="ctr"/>
          <a:lstStyle/>
          <a:p>
            <a:pPr marL="0" indent="0">
              <a:buNone/>
            </a:pPr>
            <a:r>
              <a:rPr lang="en-US" sz="1800" b="1" dirty="0">
                <a:solidFill>
                  <a:srgbClr val="7B61FF"/>
                </a:solidFill>
                <a:latin typeface="Consolas" pitchFamily="34" charset="0"/>
                <a:ea typeface="Consolas" pitchFamily="34" charset="-122"/>
                <a:cs typeface="Consolas" pitchFamily="34" charset="-120"/>
              </a:rPr>
              <a:t>random</a:t>
            </a:r>
            <a:endParaRPr lang="en-US" sz="1800" dirty="0"/>
          </a:p>
        </p:txBody>
      </p:sp>
      <p:sp>
        <p:nvSpPr>
          <p:cNvPr id="12" name="Text 10"/>
          <p:cNvSpPr/>
          <p:nvPr/>
        </p:nvSpPr>
        <p:spPr>
          <a:xfrm>
            <a:off x="594360" y="2798064"/>
            <a:ext cx="7955280" cy="320040"/>
          </a:xfrm>
          <a:prstGeom prst="rect">
            <a:avLst/>
          </a:prstGeom>
          <a:noFill/>
          <a:ln/>
        </p:spPr>
        <p:txBody>
          <a:bodyPr wrap="square" lIns="0" tIns="0" rIns="0" bIns="0" rtlCol="0" anchor="ctr"/>
          <a:lstStyle/>
          <a:p>
            <a:pPr marL="0" indent="0">
              <a:buNone/>
            </a:pPr>
            <a:r>
              <a:rPr lang="en-US" sz="1300" dirty="0">
                <a:solidFill>
                  <a:srgbClr val="A0B4CC"/>
                </a:solidFill>
                <a:latin typeface="Calibri" pitchFamily="34" charset="0"/>
                <a:ea typeface="Calibri" pitchFamily="34" charset="-122"/>
                <a:cs typeface="Calibri" pitchFamily="34" charset="-120"/>
              </a:rPr>
              <a:t>for pseudo-random numbers — JAX has its own functional PRNG system</a:t>
            </a:r>
            <a:endParaRPr lang="en-US" sz="1300" dirty="0"/>
          </a:p>
        </p:txBody>
      </p:sp>
      <p:sp>
        <p:nvSpPr>
          <p:cNvPr id="13" name="Shape 11"/>
          <p:cNvSpPr/>
          <p:nvPr/>
        </p:nvSpPr>
        <p:spPr>
          <a:xfrm>
            <a:off x="365760" y="3383280"/>
            <a:ext cx="8412480" cy="822960"/>
          </a:xfrm>
          <a:prstGeom prst="rect">
            <a:avLst/>
          </a:prstGeom>
          <a:solidFill>
            <a:srgbClr val="162032"/>
          </a:solidFill>
          <a:ln w="19050">
            <a:solidFill>
              <a:srgbClr val="00E5A0"/>
            </a:solidFill>
            <a:prstDash val="solid"/>
          </a:ln>
          <a:effectLst>
            <a:outerShdw blurRad="101600" dist="38100" dir="8100000" algn="bl" rotWithShape="0">
              <a:srgbClr val="000000">
                <a:alpha val="22000"/>
              </a:srgbClr>
            </a:outerShdw>
          </a:effectLst>
        </p:spPr>
        <p:txBody>
          <a:bodyPr/>
          <a:lstStyle/>
          <a:p>
            <a:endParaRPr lang="en-US"/>
          </a:p>
        </p:txBody>
      </p:sp>
      <p:sp>
        <p:nvSpPr>
          <p:cNvPr id="14" name="Shape 12"/>
          <p:cNvSpPr/>
          <p:nvPr/>
        </p:nvSpPr>
        <p:spPr>
          <a:xfrm>
            <a:off x="365760" y="3383280"/>
            <a:ext cx="64008" cy="822960"/>
          </a:xfrm>
          <a:prstGeom prst="rect">
            <a:avLst/>
          </a:prstGeom>
          <a:solidFill>
            <a:srgbClr val="00E5A0"/>
          </a:solidFill>
          <a:ln w="12700">
            <a:solidFill>
              <a:srgbClr val="00E5A0"/>
            </a:solidFill>
            <a:prstDash val="solid"/>
          </a:ln>
        </p:spPr>
        <p:txBody>
          <a:bodyPr/>
          <a:lstStyle/>
          <a:p>
            <a:endParaRPr lang="en-US"/>
          </a:p>
        </p:txBody>
      </p:sp>
      <p:sp>
        <p:nvSpPr>
          <p:cNvPr id="15" name="Text 13"/>
          <p:cNvSpPr/>
          <p:nvPr/>
        </p:nvSpPr>
        <p:spPr>
          <a:xfrm>
            <a:off x="594360" y="3429000"/>
            <a:ext cx="1371600" cy="347472"/>
          </a:xfrm>
          <a:prstGeom prst="rect">
            <a:avLst/>
          </a:prstGeom>
          <a:noFill/>
          <a:ln/>
        </p:spPr>
        <p:txBody>
          <a:bodyPr wrap="square" lIns="0" tIns="0" rIns="0" bIns="0" rtlCol="0" anchor="ctr"/>
          <a:lstStyle/>
          <a:p>
            <a:pPr marL="0" indent="0">
              <a:buNone/>
            </a:pPr>
            <a:r>
              <a:rPr lang="en-US" sz="1800" b="1" dirty="0">
                <a:solidFill>
                  <a:srgbClr val="00E5A0"/>
                </a:solidFill>
                <a:latin typeface="Consolas" pitchFamily="34" charset="0"/>
                <a:ea typeface="Consolas" pitchFamily="34" charset="-122"/>
                <a:cs typeface="Consolas" pitchFamily="34" charset="-120"/>
              </a:rPr>
              <a:t>debug</a:t>
            </a:r>
            <a:endParaRPr lang="en-US" sz="1800" dirty="0"/>
          </a:p>
        </p:txBody>
      </p:sp>
      <p:sp>
        <p:nvSpPr>
          <p:cNvPr id="16" name="Text 14"/>
          <p:cNvSpPr/>
          <p:nvPr/>
        </p:nvSpPr>
        <p:spPr>
          <a:xfrm>
            <a:off x="594360" y="3803904"/>
            <a:ext cx="7955280" cy="320040"/>
          </a:xfrm>
          <a:prstGeom prst="rect">
            <a:avLst/>
          </a:prstGeom>
          <a:noFill/>
          <a:ln/>
        </p:spPr>
        <p:txBody>
          <a:bodyPr wrap="square" lIns="0" tIns="0" rIns="0" bIns="0" rtlCol="0" anchor="ctr"/>
          <a:lstStyle/>
          <a:p>
            <a:pPr marL="0" indent="0">
              <a:buNone/>
            </a:pPr>
            <a:r>
              <a:rPr lang="en-US" sz="1300" dirty="0">
                <a:solidFill>
                  <a:srgbClr val="A0B4CC"/>
                </a:solidFill>
                <a:latin typeface="Calibri" pitchFamily="34" charset="0"/>
                <a:ea typeface="Calibri" pitchFamily="34" charset="-122"/>
                <a:cs typeface="Calibri" pitchFamily="34" charset="-120"/>
              </a:rPr>
              <a:t>for debugging — inspect values and trace execution in JIT-compiled code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90054" y="228669"/>
            <a:ext cx="8963891"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Examples — Control Flow and Logical Operators with JIT</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Shape 2"/>
          <p:cNvSpPr/>
          <p:nvPr/>
        </p:nvSpPr>
        <p:spPr>
          <a:xfrm>
            <a:off x="457200" y="1005840"/>
            <a:ext cx="118872" cy="118872"/>
          </a:xfrm>
          <a:prstGeom prst="ellipse">
            <a:avLst/>
          </a:prstGeom>
          <a:solidFill>
            <a:srgbClr val="00D4FF"/>
          </a:solidFill>
          <a:ln w="12700">
            <a:solidFill>
              <a:srgbClr val="00D4FF"/>
            </a:solidFill>
            <a:prstDash val="solid"/>
          </a:ln>
        </p:spPr>
        <p:txBody>
          <a:bodyPr/>
          <a:lstStyle/>
          <a:p>
            <a:endParaRPr lang="en-US"/>
          </a:p>
        </p:txBody>
      </p:sp>
      <p:sp>
        <p:nvSpPr>
          <p:cNvPr id="5" name="Text 3"/>
          <p:cNvSpPr/>
          <p:nvPr/>
        </p:nvSpPr>
        <p:spPr>
          <a:xfrm>
            <a:off x="685800" y="868680"/>
            <a:ext cx="8046720" cy="53035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When executing eagerly (outside of jit), JAX code works with python control flow and logical operators just like NumPy code.</a:t>
            </a:r>
            <a:endParaRPr lang="en-US" sz="1300" dirty="0"/>
          </a:p>
        </p:txBody>
      </p:sp>
      <p:sp>
        <p:nvSpPr>
          <p:cNvPr id="6" name="Shape 4"/>
          <p:cNvSpPr/>
          <p:nvPr/>
        </p:nvSpPr>
        <p:spPr>
          <a:xfrm>
            <a:off x="457200" y="1572768"/>
            <a:ext cx="118872" cy="118872"/>
          </a:xfrm>
          <a:prstGeom prst="ellipse">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685800" y="1435608"/>
            <a:ext cx="8046720" cy="53035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Using control flow and logical operators with jit is more complicated.</a:t>
            </a:r>
            <a:endParaRPr lang="en-US" sz="1300" dirty="0"/>
          </a:p>
        </p:txBody>
      </p:sp>
      <p:sp>
        <p:nvSpPr>
          <p:cNvPr id="8" name="Shape 6"/>
          <p:cNvSpPr/>
          <p:nvPr/>
        </p:nvSpPr>
        <p:spPr>
          <a:xfrm>
            <a:off x="457200" y="2139696"/>
            <a:ext cx="118872" cy="118872"/>
          </a:xfrm>
          <a:prstGeom prst="ellipse">
            <a:avLst/>
          </a:prstGeom>
          <a:solidFill>
            <a:srgbClr val="00D4FF"/>
          </a:solidFill>
          <a:ln w="12700">
            <a:solidFill>
              <a:srgbClr val="00D4FF"/>
            </a:solidFill>
            <a:prstDash val="solid"/>
          </a:ln>
        </p:spPr>
        <p:txBody>
          <a:bodyPr/>
          <a:lstStyle/>
          <a:p>
            <a:endParaRPr lang="en-US"/>
          </a:p>
        </p:txBody>
      </p:sp>
      <p:sp>
        <p:nvSpPr>
          <p:cNvPr id="9" name="Text 7"/>
          <p:cNvSpPr/>
          <p:nvPr/>
        </p:nvSpPr>
        <p:spPr>
          <a:xfrm>
            <a:off x="685800" y="2002536"/>
            <a:ext cx="8046720" cy="53035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 a nutshell, python control flow and logical operators are evaluated at JIT compile time, such that the compiled function represents a single path through the control flow graph.</a:t>
            </a:r>
            <a:endParaRPr lang="en-US" sz="1300" dirty="0"/>
          </a:p>
        </p:txBody>
      </p:sp>
      <p:pic>
        <p:nvPicPr>
          <p:cNvPr id="10" name="Image 0" descr="preencoded.png"/>
          <p:cNvPicPr>
            <a:picLocks noChangeAspect="1"/>
          </p:cNvPicPr>
          <p:nvPr/>
        </p:nvPicPr>
        <p:blipFill>
          <a:blip r:embed="rId3"/>
          <a:stretch>
            <a:fillRect/>
          </a:stretch>
        </p:blipFill>
        <p:spPr>
          <a:xfrm>
            <a:off x="365760" y="2651760"/>
            <a:ext cx="3657600" cy="1417320"/>
          </a:xfrm>
          <a:prstGeom prst="rect">
            <a:avLst/>
          </a:prstGeom>
        </p:spPr>
      </p:pic>
      <p:pic>
        <p:nvPicPr>
          <p:cNvPr id="11" name="Image 1" descr="preencoded.png"/>
          <p:cNvPicPr>
            <a:picLocks noChangeAspect="1"/>
          </p:cNvPicPr>
          <p:nvPr/>
        </p:nvPicPr>
        <p:blipFill>
          <a:blip r:embed="rId4"/>
          <a:stretch>
            <a:fillRect/>
          </a:stretch>
        </p:blipFill>
        <p:spPr>
          <a:xfrm>
            <a:off x="4297680" y="2651760"/>
            <a:ext cx="4389120" cy="1417320"/>
          </a:xfrm>
          <a:prstGeom prst="rect">
            <a:avLst/>
          </a:prstGeom>
        </p:spPr>
      </p:pic>
      <p:sp>
        <p:nvSpPr>
          <p:cNvPr id="12" name="Text 8"/>
          <p:cNvSpPr/>
          <p:nvPr/>
        </p:nvSpPr>
        <p:spPr>
          <a:xfrm>
            <a:off x="457200" y="4160520"/>
            <a:ext cx="8229600" cy="594360"/>
          </a:xfrm>
          <a:prstGeom prst="rect">
            <a:avLst/>
          </a:prstGeom>
          <a:noFill/>
          <a:ln/>
        </p:spPr>
        <p:txBody>
          <a:bodyPr wrap="square" lIns="0" tIns="0" rIns="0" bIns="0" rtlCol="0" anchor="ctr"/>
          <a:lstStyle/>
          <a:p>
            <a:pPr marL="0" indent="0">
              <a:buNone/>
            </a:pPr>
            <a:r>
              <a:rPr lang="en-US" sz="1200" dirty="0">
                <a:solidFill>
                  <a:srgbClr val="A0B4CC"/>
                </a:solidFill>
                <a:latin typeface="Calibri" pitchFamily="34" charset="0"/>
                <a:ea typeface="Calibri" pitchFamily="34" charset="-122"/>
                <a:cs typeface="Calibri" pitchFamily="34" charset="-120"/>
              </a:rPr>
              <a:t>• If the path depends on the values of the inputs, the function by default cannot be JIT compiled. The path may depend on the shape or data type of inputs, and the function is re-compiled every time it is called on an input with a new shape or data type.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Examples — JIT Failures with Python Control Flow</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811530"/>
            <a:ext cx="4114800" cy="1554480"/>
          </a:xfrm>
          <a:prstGeom prst="rect">
            <a:avLst/>
          </a:prstGeom>
        </p:spPr>
      </p:pic>
      <p:pic>
        <p:nvPicPr>
          <p:cNvPr id="5" name="Image 1" descr="preencoded.png"/>
          <p:cNvPicPr>
            <a:picLocks noChangeAspect="1"/>
          </p:cNvPicPr>
          <p:nvPr/>
        </p:nvPicPr>
        <p:blipFill>
          <a:blip r:embed="rId4"/>
          <a:stretch>
            <a:fillRect/>
          </a:stretch>
        </p:blipFill>
        <p:spPr>
          <a:xfrm>
            <a:off x="4754880" y="914400"/>
            <a:ext cx="3931920" cy="1188720"/>
          </a:xfrm>
          <a:prstGeom prst="rect">
            <a:avLst/>
          </a:prstGeom>
        </p:spPr>
      </p:pic>
      <p:sp>
        <p:nvSpPr>
          <p:cNvPr id="6" name="Shape 2"/>
          <p:cNvSpPr/>
          <p:nvPr/>
        </p:nvSpPr>
        <p:spPr>
          <a:xfrm>
            <a:off x="365760" y="2400300"/>
            <a:ext cx="8412480" cy="384048"/>
          </a:xfrm>
          <a:prstGeom prst="rect">
            <a:avLst/>
          </a:prstGeom>
          <a:solidFill>
            <a:srgbClr val="7B61FF">
              <a:alpha val="20000"/>
            </a:srgbClr>
          </a:solidFill>
          <a:ln w="12700">
            <a:solidFill>
              <a:srgbClr val="7B61FF"/>
            </a:solidFill>
            <a:prstDash val="solid"/>
          </a:ln>
        </p:spPr>
        <p:txBody>
          <a:bodyPr/>
          <a:lstStyle/>
          <a:p>
            <a:endParaRPr lang="en-US"/>
          </a:p>
        </p:txBody>
      </p:sp>
      <p:sp>
        <p:nvSpPr>
          <p:cNvPr id="7" name="Text 3"/>
          <p:cNvSpPr/>
          <p:nvPr/>
        </p:nvSpPr>
        <p:spPr>
          <a:xfrm>
            <a:off x="548640" y="2434590"/>
            <a:ext cx="8229600" cy="384048"/>
          </a:xfrm>
          <a:prstGeom prst="rect">
            <a:avLst/>
          </a:prstGeom>
          <a:noFill/>
          <a:ln/>
        </p:spPr>
        <p:txBody>
          <a:bodyPr wrap="square" lIns="0" tIns="0" rIns="0" bIns="0" rtlCol="0" anchor="ctr"/>
          <a:lstStyle/>
          <a:p>
            <a:pPr marL="0" indent="0">
              <a:buNone/>
            </a:pPr>
            <a:r>
              <a:rPr lang="en-US" sz="1600" b="1" dirty="0">
                <a:solidFill>
                  <a:srgbClr val="7B61FF"/>
                </a:solidFill>
                <a:latin typeface="Calibri" pitchFamily="34" charset="0"/>
                <a:ea typeface="Calibri" pitchFamily="34" charset="-122"/>
                <a:cs typeface="Calibri" pitchFamily="34" charset="-120"/>
              </a:rPr>
              <a:t>✦  Structured control flow primitives:</a:t>
            </a:r>
            <a:endParaRPr lang="en-US" sz="1600" dirty="0"/>
          </a:p>
        </p:txBody>
      </p:sp>
      <p:sp>
        <p:nvSpPr>
          <p:cNvPr id="8" name="Text 4"/>
          <p:cNvSpPr/>
          <p:nvPr/>
        </p:nvSpPr>
        <p:spPr>
          <a:xfrm>
            <a:off x="457200" y="3182112"/>
            <a:ext cx="2743200" cy="320040"/>
          </a:xfrm>
          <a:prstGeom prst="rect">
            <a:avLst/>
          </a:prstGeom>
          <a:noFill/>
          <a:ln/>
        </p:spPr>
        <p:txBody>
          <a:bodyPr wrap="square" lIns="0" tIns="0" rIns="0" bIns="0"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1- lax.cond</a:t>
            </a:r>
            <a:endParaRPr lang="en-US" sz="1500" dirty="0"/>
          </a:p>
        </p:txBody>
      </p:sp>
      <p:pic>
        <p:nvPicPr>
          <p:cNvPr id="9" name="Image 2" descr="preencoded.png"/>
          <p:cNvPicPr>
            <a:picLocks noChangeAspect="1"/>
          </p:cNvPicPr>
          <p:nvPr/>
        </p:nvPicPr>
        <p:blipFill>
          <a:blip r:embed="rId5"/>
          <a:stretch>
            <a:fillRect/>
          </a:stretch>
        </p:blipFill>
        <p:spPr>
          <a:xfrm>
            <a:off x="457200" y="2852927"/>
            <a:ext cx="8412480" cy="223861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Structured Control Flow Primitives</a:t>
            </a:r>
            <a:endParaRPr lang="en-US" sz="3000" dirty="0"/>
          </a:p>
        </p:txBody>
      </p:sp>
      <p:sp>
        <p:nvSpPr>
          <p:cNvPr id="3" name="Shape 1"/>
          <p:cNvSpPr/>
          <p:nvPr/>
        </p:nvSpPr>
        <p:spPr>
          <a:xfrm>
            <a:off x="457200" y="758951"/>
            <a:ext cx="8229600" cy="45719"/>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Text 2"/>
          <p:cNvSpPr/>
          <p:nvPr/>
        </p:nvSpPr>
        <p:spPr>
          <a:xfrm>
            <a:off x="457200" y="868680"/>
            <a:ext cx="3200400" cy="347472"/>
          </a:xfrm>
          <a:prstGeom prst="rect">
            <a:avLst/>
          </a:prstGeom>
          <a:noFill/>
          <a:ln/>
        </p:spPr>
        <p:txBody>
          <a:bodyPr wrap="square" lIns="0" tIns="0" rIns="0" bIns="0"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2- While_loop</a:t>
            </a:r>
            <a:endParaRPr lang="en-US" sz="1500" dirty="0"/>
          </a:p>
        </p:txBody>
      </p:sp>
      <p:pic>
        <p:nvPicPr>
          <p:cNvPr id="5" name="Image 0" descr="preencoded.png"/>
          <p:cNvPicPr>
            <a:picLocks noChangeAspect="1"/>
          </p:cNvPicPr>
          <p:nvPr/>
        </p:nvPicPr>
        <p:blipFill>
          <a:blip r:embed="rId3"/>
          <a:stretch>
            <a:fillRect/>
          </a:stretch>
        </p:blipFill>
        <p:spPr>
          <a:xfrm>
            <a:off x="365760" y="699655"/>
            <a:ext cx="8412480" cy="2226425"/>
          </a:xfrm>
          <a:prstGeom prst="rect">
            <a:avLst/>
          </a:prstGeom>
        </p:spPr>
      </p:pic>
      <p:sp>
        <p:nvSpPr>
          <p:cNvPr id="6" name="Text 3"/>
          <p:cNvSpPr/>
          <p:nvPr/>
        </p:nvSpPr>
        <p:spPr>
          <a:xfrm>
            <a:off x="457200" y="3017520"/>
            <a:ext cx="3200400" cy="347472"/>
          </a:xfrm>
          <a:prstGeom prst="rect">
            <a:avLst/>
          </a:prstGeom>
          <a:noFill/>
          <a:ln/>
        </p:spPr>
        <p:txBody>
          <a:bodyPr wrap="square" lIns="0" tIns="0" rIns="0" bIns="0" rtlCol="0" anchor="ctr"/>
          <a:lstStyle/>
          <a:p>
            <a:pPr marL="0" indent="0">
              <a:buNone/>
            </a:pPr>
            <a:r>
              <a:rPr lang="en-US" sz="1500" b="1" dirty="0">
                <a:solidFill>
                  <a:srgbClr val="00D4FF"/>
                </a:solidFill>
                <a:latin typeface="Calibri" pitchFamily="34" charset="0"/>
                <a:ea typeface="Calibri" pitchFamily="34" charset="-122"/>
                <a:cs typeface="Calibri" pitchFamily="34" charset="-120"/>
              </a:rPr>
              <a:t>3- Fori_loop</a:t>
            </a:r>
            <a:endParaRPr lang="en-US" sz="1500" dirty="0"/>
          </a:p>
        </p:txBody>
      </p:sp>
      <p:pic>
        <p:nvPicPr>
          <p:cNvPr id="7" name="Image 1" descr="preencoded.png"/>
          <p:cNvPicPr>
            <a:picLocks noChangeAspect="1"/>
          </p:cNvPicPr>
          <p:nvPr/>
        </p:nvPicPr>
        <p:blipFill>
          <a:blip r:embed="rId4"/>
          <a:stretch>
            <a:fillRect/>
          </a:stretch>
        </p:blipFill>
        <p:spPr>
          <a:xfrm>
            <a:off x="365760" y="3017520"/>
            <a:ext cx="8412480" cy="20482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Logical Operators</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4" name="Shape 2"/>
          <p:cNvSpPr/>
          <p:nvPr/>
        </p:nvSpPr>
        <p:spPr>
          <a:xfrm>
            <a:off x="365760" y="841248"/>
            <a:ext cx="8412480" cy="365760"/>
          </a:xfrm>
          <a:prstGeom prst="rect">
            <a:avLst/>
          </a:prstGeom>
          <a:solidFill>
            <a:srgbClr val="7B61FF">
              <a:alpha val="20000"/>
            </a:srgbClr>
          </a:solidFill>
          <a:ln w="12700">
            <a:solidFill>
              <a:srgbClr val="7B61FF"/>
            </a:solidFill>
            <a:prstDash val="solid"/>
          </a:ln>
        </p:spPr>
        <p:txBody>
          <a:bodyPr/>
          <a:lstStyle/>
          <a:p>
            <a:endParaRPr lang="en-US"/>
          </a:p>
        </p:txBody>
      </p:sp>
      <p:sp>
        <p:nvSpPr>
          <p:cNvPr id="5" name="Text 3"/>
          <p:cNvSpPr/>
          <p:nvPr/>
        </p:nvSpPr>
        <p:spPr>
          <a:xfrm>
            <a:off x="548640" y="841248"/>
            <a:ext cx="8229600" cy="365760"/>
          </a:xfrm>
          <a:prstGeom prst="rect">
            <a:avLst/>
          </a:prstGeom>
          <a:noFill/>
          <a:ln/>
        </p:spPr>
        <p:txBody>
          <a:bodyPr wrap="square" lIns="0" tIns="0" rIns="0" bIns="0" rtlCol="0" anchor="ctr"/>
          <a:lstStyle/>
          <a:p>
            <a:pPr marL="0" indent="0">
              <a:buNone/>
            </a:pPr>
            <a:r>
              <a:rPr lang="en-US" sz="1500" b="1" dirty="0">
                <a:solidFill>
                  <a:srgbClr val="7B61FF"/>
                </a:solidFill>
                <a:latin typeface="Calibri" pitchFamily="34" charset="0"/>
                <a:ea typeface="Calibri" pitchFamily="34" charset="-122"/>
                <a:cs typeface="Calibri" pitchFamily="34" charset="-120"/>
              </a:rPr>
              <a:t>✦  Logical operators</a:t>
            </a:r>
            <a:endParaRPr lang="en-US" sz="1500" dirty="0"/>
          </a:p>
        </p:txBody>
      </p:sp>
      <p:pic>
        <p:nvPicPr>
          <p:cNvPr id="6" name="Image 0" descr="preencoded.png"/>
          <p:cNvPicPr>
            <a:picLocks noChangeAspect="1"/>
          </p:cNvPicPr>
          <p:nvPr/>
        </p:nvPicPr>
        <p:blipFill>
          <a:blip r:embed="rId3"/>
          <a:stretch>
            <a:fillRect/>
          </a:stretch>
        </p:blipFill>
        <p:spPr>
          <a:xfrm>
            <a:off x="365760" y="1298447"/>
            <a:ext cx="8412480" cy="2061279"/>
          </a:xfrm>
          <a:prstGeom prst="rect">
            <a:avLst/>
          </a:prstGeom>
        </p:spPr>
      </p:pic>
      <p:pic>
        <p:nvPicPr>
          <p:cNvPr id="7" name="Image 1" descr="preencoded.png"/>
          <p:cNvPicPr>
            <a:picLocks noChangeAspect="1"/>
          </p:cNvPicPr>
          <p:nvPr/>
        </p:nvPicPr>
        <p:blipFill>
          <a:blip r:embed="rId4"/>
          <a:stretch>
            <a:fillRect/>
          </a:stretch>
        </p:blipFill>
        <p:spPr>
          <a:xfrm>
            <a:off x="365760" y="3433571"/>
            <a:ext cx="4754880" cy="14363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Logical Operators — grad without JIT (Works!)</a:t>
            </a:r>
            <a:endParaRPr lang="en-US" sz="3000" dirty="0"/>
          </a:p>
        </p:txBody>
      </p:sp>
      <p:sp>
        <p:nvSpPr>
          <p:cNvPr id="3" name="Shape 1"/>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882396"/>
            <a:ext cx="6858000" cy="1508760"/>
          </a:xfrm>
          <a:prstGeom prst="rect">
            <a:avLst/>
          </a:prstGeom>
        </p:spPr>
      </p:pic>
      <p:sp>
        <p:nvSpPr>
          <p:cNvPr id="5" name="Text 2"/>
          <p:cNvSpPr/>
          <p:nvPr/>
        </p:nvSpPr>
        <p:spPr>
          <a:xfrm>
            <a:off x="411480" y="2762320"/>
            <a:ext cx="8229600" cy="566928"/>
          </a:xfrm>
          <a:prstGeom prst="rect">
            <a:avLst/>
          </a:prstGeom>
          <a:noFill/>
          <a:ln/>
        </p:spPr>
        <p:txBody>
          <a:bodyPr wrap="square" lIns="0" tIns="0" rIns="0" bIns="0" rtlCol="0" anchor="ctr"/>
          <a:lstStyle/>
          <a:p>
            <a:pPr marL="0" indent="0">
              <a:buNone/>
            </a:pPr>
            <a:r>
              <a:rPr lang="en-US" sz="1350" i="1" dirty="0">
                <a:solidFill>
                  <a:srgbClr val="A0B4CC"/>
                </a:solidFill>
                <a:latin typeface="Calibri" pitchFamily="34" charset="0"/>
                <a:ea typeface="Calibri" pitchFamily="34" charset="-122"/>
                <a:cs typeface="Calibri" pitchFamily="34" charset="-120"/>
              </a:rPr>
              <a:t>Key takeaway: When using grad without jit, Python control flow (if/else, and/or) works just fine — only jit compilation imposes the constraint that control flow must be statically determined.</a:t>
            </a:r>
          </a:p>
          <a:p>
            <a:pPr marL="0" indent="0">
              <a:buNone/>
            </a:pPr>
            <a:endParaRPr lang="en-US" sz="1350" i="1" dirty="0">
              <a:solidFill>
                <a:srgbClr val="A0B4CC"/>
              </a:solidFill>
              <a:latin typeface="Calibri" pitchFamily="34" charset="0"/>
              <a:cs typeface="Calibri" pitchFamily="34" charset="-120"/>
            </a:endParaRPr>
          </a:p>
          <a:p>
            <a:r>
              <a:rPr lang="en-US" sz="1400" dirty="0">
                <a:solidFill>
                  <a:srgbClr val="FFFFFF"/>
                </a:solidFill>
                <a:latin typeface="Calibri" pitchFamily="34" charset="0"/>
                <a:ea typeface="Calibri" pitchFamily="34" charset="-122"/>
                <a:cs typeface="Calibri" pitchFamily="34" charset="-120"/>
              </a:rPr>
              <a:t>If you just want to apply grad to your python functions, without </a:t>
            </a:r>
            <a:r>
              <a:rPr lang="en-US" sz="1400" dirty="0" err="1">
                <a:solidFill>
                  <a:srgbClr val="FFFFFF"/>
                </a:solidFill>
                <a:latin typeface="Calibri" pitchFamily="34" charset="0"/>
                <a:ea typeface="Calibri" pitchFamily="34" charset="-122"/>
                <a:cs typeface="Calibri" pitchFamily="34" charset="-120"/>
              </a:rPr>
              <a:t>jit</a:t>
            </a:r>
            <a:r>
              <a:rPr lang="en-US" sz="1400" dirty="0">
                <a:solidFill>
                  <a:srgbClr val="FFFFFF"/>
                </a:solidFill>
                <a:latin typeface="Calibri" pitchFamily="34" charset="0"/>
                <a:ea typeface="Calibri" pitchFamily="34" charset="-122"/>
                <a:cs typeface="Calibri" pitchFamily="34" charset="-120"/>
              </a:rPr>
              <a:t>, you can use regular Python control-flow constructs with no problems.</a:t>
            </a:r>
            <a:endParaRPr lang="en-US" sz="1400" dirty="0"/>
          </a:p>
          <a:p>
            <a:pPr marL="0" indent="0">
              <a:buNone/>
            </a:pPr>
            <a:endParaRPr lang="en-US" sz="1350" dirty="0"/>
          </a:p>
        </p:txBody>
      </p:sp>
      <p:sp>
        <p:nvSpPr>
          <p:cNvPr id="6" name="Shape 3"/>
          <p:cNvSpPr/>
          <p:nvPr/>
        </p:nvSpPr>
        <p:spPr>
          <a:xfrm>
            <a:off x="365760" y="3493008"/>
            <a:ext cx="8412480" cy="1280160"/>
          </a:xfrm>
          <a:prstGeom prst="rect">
            <a:avLst/>
          </a:prstGeom>
          <a:solidFill>
            <a:srgbClr val="162032"/>
          </a:solidFill>
          <a:ln w="19050">
            <a:solidFill>
              <a:srgbClr val="00E5A0"/>
            </a:solidFill>
            <a:prstDash val="solid"/>
          </a:ln>
          <a:effectLst>
            <a:outerShdw blurRad="101600" dist="38100" dir="8100000" algn="bl" rotWithShape="0">
              <a:srgbClr val="000000">
                <a:alpha val="22000"/>
              </a:srgbClr>
            </a:outerShdw>
          </a:effectLst>
        </p:spPr>
        <p:txBody>
          <a:bodyPr/>
          <a:lstStyle/>
          <a:p>
            <a:endParaRPr lang="en-US"/>
          </a:p>
        </p:txBody>
      </p:sp>
      <p:sp>
        <p:nvSpPr>
          <p:cNvPr id="7" name="Shape 4"/>
          <p:cNvSpPr/>
          <p:nvPr/>
        </p:nvSpPr>
        <p:spPr>
          <a:xfrm>
            <a:off x="365760" y="3493008"/>
            <a:ext cx="64008" cy="1280160"/>
          </a:xfrm>
          <a:prstGeom prst="rect">
            <a:avLst/>
          </a:prstGeom>
          <a:solidFill>
            <a:srgbClr val="00E5A0"/>
          </a:solidFill>
          <a:ln w="12700">
            <a:solidFill>
              <a:srgbClr val="00E5A0"/>
            </a:solidFill>
            <a:prstDash val="solid"/>
          </a:ln>
        </p:spPr>
        <p:txBody>
          <a:bodyPr/>
          <a:lstStyle/>
          <a:p>
            <a:endParaRPr lang="en-US"/>
          </a:p>
        </p:txBody>
      </p:sp>
      <p:sp>
        <p:nvSpPr>
          <p:cNvPr id="8" name="Text 5"/>
          <p:cNvSpPr/>
          <p:nvPr/>
        </p:nvSpPr>
        <p:spPr>
          <a:xfrm>
            <a:off x="594360" y="3584448"/>
            <a:ext cx="8046720" cy="347472"/>
          </a:xfrm>
          <a:prstGeom prst="rect">
            <a:avLst/>
          </a:prstGeom>
          <a:noFill/>
          <a:ln/>
        </p:spPr>
        <p:txBody>
          <a:bodyPr wrap="square" lIns="0" tIns="0" rIns="0" bIns="0" rtlCol="0" anchor="ctr"/>
          <a:lstStyle/>
          <a:p>
            <a:pPr marL="0" indent="0">
              <a:buNone/>
            </a:pPr>
            <a:r>
              <a:rPr lang="en-US" sz="1300" b="1" dirty="0">
                <a:solidFill>
                  <a:srgbClr val="00E5A0"/>
                </a:solidFill>
                <a:latin typeface="Calibri" pitchFamily="34" charset="0"/>
                <a:ea typeface="Calibri" pitchFamily="34" charset="-122"/>
                <a:cs typeface="Calibri" pitchFamily="34" charset="-120"/>
              </a:rPr>
              <a:t>✓  Outside jit: use regular Python control flow freely</a:t>
            </a:r>
            <a:endParaRPr lang="en-US" sz="1300" dirty="0"/>
          </a:p>
        </p:txBody>
      </p:sp>
      <p:sp>
        <p:nvSpPr>
          <p:cNvPr id="9" name="Text 6"/>
          <p:cNvSpPr/>
          <p:nvPr/>
        </p:nvSpPr>
        <p:spPr>
          <a:xfrm>
            <a:off x="594360" y="3950208"/>
            <a:ext cx="8046720" cy="347472"/>
          </a:xfrm>
          <a:prstGeom prst="rect">
            <a:avLst/>
          </a:prstGeom>
          <a:noFill/>
          <a:ln/>
        </p:spPr>
        <p:txBody>
          <a:bodyPr wrap="square" lIns="0" tIns="0" rIns="0" bIns="0" rtlCol="0" anchor="ctr"/>
          <a:lstStyle/>
          <a:p>
            <a:pPr marL="0" indent="0">
              <a:buNone/>
            </a:pPr>
            <a:r>
              <a:rPr lang="en-US" sz="1300" dirty="0">
                <a:solidFill>
                  <a:srgbClr val="00E5A0"/>
                </a:solidFill>
                <a:latin typeface="Calibri" pitchFamily="34" charset="0"/>
                <a:ea typeface="Calibri" pitchFamily="34" charset="-122"/>
                <a:cs typeface="Calibri" pitchFamily="34" charset="-120"/>
              </a:rPr>
              <a:t>✓  Inside jit: use lax.cond, lax.while_loop, lax.fori_loop</a:t>
            </a:r>
            <a:endParaRPr lang="en-US" sz="1300" dirty="0"/>
          </a:p>
        </p:txBody>
      </p:sp>
      <p:sp>
        <p:nvSpPr>
          <p:cNvPr id="10" name="Text 7"/>
          <p:cNvSpPr/>
          <p:nvPr/>
        </p:nvSpPr>
        <p:spPr>
          <a:xfrm>
            <a:off x="594360" y="4315968"/>
            <a:ext cx="8046720" cy="347472"/>
          </a:xfrm>
          <a:prstGeom prst="rect">
            <a:avLst/>
          </a:prstGeom>
          <a:noFill/>
          <a:ln/>
        </p:spPr>
        <p:txBody>
          <a:bodyPr wrap="square" lIns="0" tIns="0" rIns="0" bIns="0" rtlCol="0" anchor="ctr"/>
          <a:lstStyle/>
          <a:p>
            <a:pPr marL="0" indent="0">
              <a:buNone/>
            </a:pPr>
            <a:r>
              <a:rPr lang="en-US" sz="1300" dirty="0">
                <a:solidFill>
                  <a:srgbClr val="00E5A0"/>
                </a:solidFill>
                <a:latin typeface="Calibri" pitchFamily="34" charset="0"/>
                <a:ea typeface="Calibri" pitchFamily="34" charset="-122"/>
                <a:cs typeface="Calibri" pitchFamily="34" charset="-120"/>
              </a:rPr>
              <a:t>✓  grad composes with both jit and regular Python flow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80FDB77B-701D-61A7-6EB0-1E74DE751F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1C8386-D611-B147-D7A3-9C5D257A6580}"/>
              </a:ext>
            </a:extLst>
          </p:cNvPr>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References</a:t>
            </a:r>
            <a:endParaRPr lang="en-US" sz="3000" dirty="0"/>
          </a:p>
        </p:txBody>
      </p:sp>
      <p:sp>
        <p:nvSpPr>
          <p:cNvPr id="3" name="Shape 1">
            <a:extLst>
              <a:ext uri="{FF2B5EF4-FFF2-40B4-BE49-F238E27FC236}">
                <a16:creationId xmlns:a16="http://schemas.microsoft.com/office/drawing/2014/main" id="{91C84C06-4D07-0B8C-4473-BB1791128026}"/>
              </a:ext>
            </a:extLst>
          </p:cNvPr>
          <p:cNvSpPr/>
          <p:nvPr/>
        </p:nvSpPr>
        <p:spPr>
          <a:xfrm>
            <a:off x="457200" y="758952"/>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
        <p:nvSpPr>
          <p:cNvPr id="12" name="TextBox 11">
            <a:extLst>
              <a:ext uri="{FF2B5EF4-FFF2-40B4-BE49-F238E27FC236}">
                <a16:creationId xmlns:a16="http://schemas.microsoft.com/office/drawing/2014/main" id="{FC3907B9-1B05-AECF-9676-66B386F549BF}"/>
              </a:ext>
            </a:extLst>
          </p:cNvPr>
          <p:cNvSpPr txBox="1"/>
          <p:nvPr/>
        </p:nvSpPr>
        <p:spPr>
          <a:xfrm>
            <a:off x="554181" y="1114198"/>
            <a:ext cx="8063345" cy="1200329"/>
          </a:xfrm>
          <a:prstGeom prst="rect">
            <a:avLst/>
          </a:prstGeom>
          <a:noFill/>
        </p:spPr>
        <p:txBody>
          <a:bodyPr wrap="square">
            <a:spAutoFit/>
          </a:bodyPr>
          <a:lstStyle/>
          <a:p>
            <a:r>
              <a:rPr lang="en-US" sz="2400" b="0" i="0" u="sng" dirty="0">
                <a:solidFill>
                  <a:srgbClr val="0B57D0"/>
                </a:solidFill>
                <a:effectLst/>
                <a:latin typeface="Google Sans"/>
                <a:hlinkClick r:id="rId3"/>
              </a:rPr>
              <a:t>https://github.com/agwr/learn-jax</a:t>
            </a:r>
            <a:endParaRPr lang="en-US" sz="2400" b="0" i="0" u="sng" dirty="0">
              <a:solidFill>
                <a:srgbClr val="0B57D0"/>
              </a:solidFill>
              <a:effectLst/>
              <a:latin typeface="Google Sans"/>
            </a:endParaRPr>
          </a:p>
          <a:p>
            <a:endParaRPr lang="en-US" sz="2400" u="sng" dirty="0">
              <a:solidFill>
                <a:srgbClr val="0B57D0"/>
              </a:solidFill>
              <a:latin typeface="Google Sans"/>
            </a:endParaRPr>
          </a:p>
          <a:p>
            <a:r>
              <a:rPr lang="en-US" sz="2400" u="sng" dirty="0">
                <a:solidFill>
                  <a:srgbClr val="0B57D0"/>
                </a:solidFill>
                <a:latin typeface="Google Sans"/>
              </a:rPr>
              <a:t>https://docs.jax.dev/en/latest/notebooks/thinking_in_jax.html</a:t>
            </a:r>
          </a:p>
        </p:txBody>
      </p:sp>
    </p:spTree>
    <p:extLst>
      <p:ext uri="{BB962C8B-B14F-4D97-AF65-F5344CB8AC3E}">
        <p14:creationId xmlns:p14="http://schemas.microsoft.com/office/powerpoint/2010/main" val="330866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701AD573-F90C-EF8C-9E3D-5CF481E42D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95B8EC-E195-1E4F-8C90-EBF3D66C503A}"/>
              </a:ext>
            </a:extLst>
          </p:cNvPr>
          <p:cNvSpPr/>
          <p:nvPr/>
        </p:nvSpPr>
        <p:spPr>
          <a:xfrm>
            <a:off x="457200" y="2145238"/>
            <a:ext cx="82296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Thank you</a:t>
            </a:r>
            <a:endParaRPr lang="en-US" sz="3000" dirty="0"/>
          </a:p>
        </p:txBody>
      </p:sp>
      <p:sp>
        <p:nvSpPr>
          <p:cNvPr id="3" name="Shape 1">
            <a:extLst>
              <a:ext uri="{FF2B5EF4-FFF2-40B4-BE49-F238E27FC236}">
                <a16:creationId xmlns:a16="http://schemas.microsoft.com/office/drawing/2014/main" id="{FE77B86D-0F8A-9E2B-547F-08FB5A58B5CB}"/>
              </a:ext>
            </a:extLst>
          </p:cNvPr>
          <p:cNvSpPr/>
          <p:nvPr/>
        </p:nvSpPr>
        <p:spPr>
          <a:xfrm>
            <a:off x="457200" y="2747079"/>
            <a:ext cx="8229600" cy="32004"/>
          </a:xfrm>
          <a:prstGeom prst="rect">
            <a:avLst/>
          </a:prstGeom>
          <a:solidFill>
            <a:srgbClr val="00D4FF">
              <a:alpha val="55000"/>
            </a:srgbClr>
          </a:solidFill>
          <a:ln w="12700">
            <a:solidFill>
              <a:srgbClr val="00D4FF">
                <a:alpha val="55000"/>
              </a:srgbClr>
            </a:solidFill>
            <a:prstDash val="solid"/>
          </a:ln>
        </p:spPr>
        <p:txBody>
          <a:bodyPr/>
          <a:lstStyle/>
          <a:p>
            <a:endParaRPr lang="en-US"/>
          </a:p>
        </p:txBody>
      </p:sp>
    </p:spTree>
    <p:extLst>
      <p:ext uri="{BB962C8B-B14F-4D97-AF65-F5344CB8AC3E}">
        <p14:creationId xmlns:p14="http://schemas.microsoft.com/office/powerpoint/2010/main" val="2449222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1008</Words>
  <Application>Microsoft Office PowerPoint</Application>
  <PresentationFormat>On-screen Show (16:9)</PresentationFormat>
  <Paragraphs>96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JAX</dc:title>
  <dc:subject>PptxGenJS Presentation</dc:subject>
  <dc:creator>PptxGenJS</dc:creator>
  <cp:lastModifiedBy>es-KyrillosJoseph2023</cp:lastModifiedBy>
  <cp:revision>7</cp:revision>
  <dcterms:created xsi:type="dcterms:W3CDTF">2026-05-18T09:49:29Z</dcterms:created>
  <dcterms:modified xsi:type="dcterms:W3CDTF">2026-05-19T08:16:17Z</dcterms:modified>
</cp:coreProperties>
</file>